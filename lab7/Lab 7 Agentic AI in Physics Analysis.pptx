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9" r:id="rId4"/>
    <p:sldId id="259" r:id="rId5"/>
    <p:sldId id="263" r:id="rId6"/>
    <p:sldId id="265" r:id="rId7"/>
    <p:sldId id="268" r:id="rId8"/>
    <p:sldId id="262" r:id="rId9"/>
    <p:sldId id="260" r:id="rId10"/>
    <p:sldId id="261" r:id="rId11"/>
    <p:sldId id="258" r:id="rId12"/>
    <p:sldId id="264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658"/>
  </p:normalViewPr>
  <p:slideViewPr>
    <p:cSldViewPr snapToGrid="0">
      <p:cViewPr varScale="1">
        <p:scale>
          <a:sx n="101" d="100"/>
          <a:sy n="101" d="100"/>
        </p:scale>
        <p:origin x="112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420D-216D-39E9-C9F5-9A3AFF21D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81FCD6-3933-A026-5DE6-143AB7110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8B0AF-0804-7C8F-B05F-7A80CCA7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7879B-1047-2967-CE41-F83674C4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5C282-111B-8473-DB03-2B13C18E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49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0F3F-3F0D-4C19-00F7-FF378988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E2135-D63C-DFC9-EA39-40B00C1F4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96862-A827-B400-B9D3-FF0FBB6E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EDD8B-9A39-A03D-E12E-23E1AD00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14D48-A3C9-4BAB-ECDA-C5C4136B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108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C2BC-68FC-6139-B6AD-03522F3B3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98979-7737-A1A0-1884-3A8AAA946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F0DAF-F936-C4B3-F202-1E8B7F898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1E6C8-32EE-6F39-14F7-D1E663D9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42616-168C-C10E-D7DE-05EA7A65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89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4651-95B1-AD1A-9E31-D58FF2DEA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11899-C61E-7991-0928-120D36F68F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8FC4A-A0C8-5B3B-AD0A-DB792A850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35B82-F191-28C3-A11E-7C5D54DA7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8939D-BDD5-3FD9-383A-EA32FE65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538BB-A5A4-7E92-DD60-42346483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17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2854-EFEC-F404-2B5B-674CB44B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4F177-0E67-7DBA-79C3-7BA39A8FE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AAEB2-DC6E-3C3D-A198-7882E32E6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62E77-4ACD-236A-3FDB-D65950481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A289A-C7D5-5AE5-1183-66894C6CB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78484-42EA-06FF-A8DD-4723F0F5C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0203E-1D0D-6174-C49B-10F876DDF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66F8A-41D2-5543-8424-3D493312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47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F2C1-DBC6-4C08-33D0-689A3F7E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71A88-5A98-DA28-C95F-2E1524CC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269AE-59D9-BE11-D9D3-46E4D473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5FCE-BD68-4A97-B753-99AD26361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6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7EDBC-30CF-47A8-39E6-C325D4C4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67E68F-CF52-0827-35CE-2A494B7E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F59CB-2DAE-3A0E-D161-336D0CEC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9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A523-0998-8178-E856-975681B0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085CF-AB1E-5761-6588-88414AE6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48CC1-B6E3-2F30-16C3-A356BC9E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98EB5-8822-4100-803E-02FFF672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D97B8B-70FB-D3CD-1453-6185F5DF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D82B7-7472-6294-9FCF-EDE79079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489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34A07-0A4C-8BC7-C063-4590D984E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9BB486-7126-5BA3-38AB-C865616ADD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CE92C-7256-DA2F-BBDA-A951EDC3D4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32B15-E6AD-0D37-A7F4-13B86EAF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1A7B5-5FA0-975F-D8D5-51C31FBC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B4207-BC5D-03C1-B897-CC324F95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56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9116-9D34-4AB6-A497-8CE50ECB8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1E1A6-8C06-C7BF-B0FF-E64E487F3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E77DB-9576-B899-A3F8-B3FD98120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8DF1E-4A7A-1B18-A9CC-CAE72C7FA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67395-903C-2950-D1DD-D4767FE85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14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751E6-E73E-0FF4-3D5F-EB7C908AF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71CE2-3280-A8F8-E6A0-E069AF2CB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10B95-5551-C409-2BDA-E1CF4DE9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FBE50-C7CA-FC24-4656-E43819C6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98158-4CDC-2F4E-3924-4A52817D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661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AA3F49-1C18-7420-8D3F-E74211611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4C138-96DC-08B6-B9D5-19089B6C6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CE096-D80F-3951-1FC2-257CD8EC1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8561A-939F-9741-9C21-4F7A10E889AA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88B3C-5B2B-8F53-52B8-AF40FF4A0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3E468-83A0-4B2B-7AFF-91394DC9F0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D6B35-A358-EE4C-82CA-5705F3E686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5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loud.cerebras.ai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1590-56AF-51C0-5A7F-31ADA9285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Lab 7: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Agentic AI in Physics Analysis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C8B23-650C-FEC6-D7F5-C0CC71DDD4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22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DE547-5C6E-E89C-4930-E29EC5EC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is Agentic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5AEB9-CEA5-DF8D-3E6A-4227DFB39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537365" cy="4351338"/>
          </a:xfrm>
        </p:spPr>
        <p:txBody>
          <a:bodyPr>
            <a:normAutofit/>
          </a:bodyPr>
          <a:lstStyle/>
          <a:p>
            <a:r>
              <a:rPr lang="en-US" dirty="0"/>
              <a:t>An agent is program or artificial intelligence that observes its environment and then interacts with said environment</a:t>
            </a:r>
          </a:p>
          <a:p>
            <a:r>
              <a:rPr lang="en-US" dirty="0"/>
              <a:t>Can be rules based, algorithm based, or even use a Large Language Model!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6FEA8-F129-2435-B9F1-68CBD4069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6" name="Picture 5" descr="Understanding AI Agentic Workflows: A Comprehensive Guide | by Volodymyr Zhukov | Medium">
            <a:extLst>
              <a:ext uri="{FF2B5EF4-FFF2-40B4-BE49-F238E27FC236}">
                <a16:creationId xmlns:a16="http://schemas.microsoft.com/office/drawing/2014/main" id="{42141E1F-C9F4-3131-FB70-A99E91E708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516" t="5335" r="9447" b="7255"/>
          <a:stretch>
            <a:fillRect/>
          </a:stretch>
        </p:blipFill>
        <p:spPr>
          <a:xfrm>
            <a:off x="5805054" y="2047695"/>
            <a:ext cx="6220691" cy="39071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50B12B-6645-FB97-1889-F089C0B4948F}"/>
              </a:ext>
            </a:extLst>
          </p:cNvPr>
          <p:cNvSpPr txBox="1"/>
          <p:nvPr/>
        </p:nvSpPr>
        <p:spPr>
          <a:xfrm>
            <a:off x="8166100" y="61997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boomi.com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68197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4EDF-86F5-2037-E48C-F1D55D682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C2BE5-8629-25C1-719B-DB10D73F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What is Agentic AI Used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B785A-2B51-BBB1-196A-3CE6D9F00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2960" cy="4351338"/>
          </a:xfrm>
        </p:spPr>
        <p:txBody>
          <a:bodyPr>
            <a:normAutofit/>
          </a:bodyPr>
          <a:lstStyle/>
          <a:p>
            <a:r>
              <a:rPr lang="en-US" dirty="0"/>
              <a:t>Agents can be used used to filter emails or help automate finding research papers</a:t>
            </a:r>
          </a:p>
          <a:p>
            <a:r>
              <a:rPr lang="en-US" dirty="0"/>
              <a:t>Even automate certain physics analysis!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FF581-2090-A640-28D9-6FF54436C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5" name="Picture 4" descr="Meta Agents: Towards Scalable AI Agent Development | by Harsha Varun | Medium">
            <a:extLst>
              <a:ext uri="{FF2B5EF4-FFF2-40B4-BE49-F238E27FC236}">
                <a16:creationId xmlns:a16="http://schemas.microsoft.com/office/drawing/2014/main" id="{93EBBCA7-9802-4611-C38A-0560FFD78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160" y="1848405"/>
            <a:ext cx="6903175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DD62DC-A51B-8CD6-E52D-A4427F6CACF6}"/>
              </a:ext>
            </a:extLst>
          </p:cNvPr>
          <p:cNvSpPr txBox="1"/>
          <p:nvPr/>
        </p:nvSpPr>
        <p:spPr>
          <a:xfrm>
            <a:off x="8166100" y="619974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www.medium.com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846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21D1-E559-9ED8-FE26-B95021116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26041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Emerging Agentic Workflows in Physics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612F9-5ACD-A3C5-BF7A-1D84F772AE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MIT paper uses Claude Code to automate entire Physics Analysis at the Large Hadron Collider </a:t>
                </a:r>
              </a:p>
              <a:p>
                <a:r>
                  <a:rPr lang="en-US" dirty="0"/>
                  <a:t>Performed reproductions of physics analysis such as</a:t>
                </a:r>
              </a:p>
              <a:p>
                <a:pPr lvl="1"/>
                <a:r>
                  <a:rPr lang="en-US" dirty="0"/>
                  <a:t>Z Boson Line Shape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/>
                      <m:t>𝐻</m:t>
                    </m:r>
                    <m:r>
                      <a:rPr lang="en-US"/>
                      <m:t>→</m:t>
                    </m:r>
                    <m:r>
                      <a:rPr lang="en-US" i="1"/>
                      <m:t>𝜏𝜏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Demonstrated that AI is capable to analyze physics data from a prompt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7612F9-5ACD-A3C5-BF7A-1D84F772AE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169" t="-3198" r="-2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C16CA2F-3AFB-7328-597A-1BF6415F5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84" y="81230"/>
            <a:ext cx="5578816" cy="6095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2D948A-492D-5E32-7049-988ED4A02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BD7D32-AA42-64BF-2E42-F098C3C3164C}"/>
              </a:ext>
            </a:extLst>
          </p:cNvPr>
          <p:cNvSpPr txBox="1"/>
          <p:nvPr/>
        </p:nvSpPr>
        <p:spPr>
          <a:xfrm>
            <a:off x="7632700" y="61769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arxiv.org</a:t>
            </a:r>
            <a:r>
              <a:rPr lang="en-US" dirty="0"/>
              <a:t>/pdf/2603.20179</a:t>
            </a:r>
          </a:p>
        </p:txBody>
      </p:sp>
    </p:spTree>
    <p:extLst>
      <p:ext uri="{BB962C8B-B14F-4D97-AF65-F5344CB8AC3E}">
        <p14:creationId xmlns:p14="http://schemas.microsoft.com/office/powerpoint/2010/main" val="3085959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7E210-60C7-EB23-7332-26D6DBA11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3837" y="171918"/>
            <a:ext cx="5645727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Lab 7 – Exotic Higgs Decay Agentic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9394D-22E0-7525-02F9-40278607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Use agents to automate physics discovery in collider data</a:t>
            </a:r>
          </a:p>
          <a:p>
            <a:r>
              <a:rPr lang="en-US" dirty="0"/>
              <a:t>Exotic Higgs could decay to 4 b quarks which form Jets in the collider</a:t>
            </a:r>
          </a:p>
          <a:p>
            <a:r>
              <a:rPr lang="en-US" dirty="0"/>
              <a:t>Since quarks by themselves are highly unstable due to confinement more quarks appear to stabilize the state</a:t>
            </a:r>
          </a:p>
          <a:p>
            <a:r>
              <a:rPr lang="en-US" dirty="0"/>
              <a:t>Heavy QCD background jets from other processes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10658-71BF-0079-D42D-9ED324AED2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6" name="Picture 5" descr="Physicists energized about restart of Large Hadron Collider | Cornell Chronicle">
            <a:extLst>
              <a:ext uri="{FF2B5EF4-FFF2-40B4-BE49-F238E27FC236}">
                <a16:creationId xmlns:a16="http://schemas.microsoft.com/office/drawing/2014/main" id="{CD369492-8D5E-4598-75FD-494A5D3E0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5146" y="171918"/>
            <a:ext cx="4753420" cy="3162058"/>
          </a:xfrm>
          <a:prstGeom prst="rect">
            <a:avLst/>
          </a:prstGeom>
        </p:spPr>
      </p:pic>
      <p:pic>
        <p:nvPicPr>
          <p:cNvPr id="7" name="Picture 6" descr="Feynman diagram for a BSM decay of the Higgs boson into a pair of light... | Download Scientific ...">
            <a:extLst>
              <a:ext uri="{FF2B5EF4-FFF2-40B4-BE49-F238E27FC236}">
                <a16:creationId xmlns:a16="http://schemas.microsoft.com/office/drawing/2014/main" id="{6CC56465-1215-8611-D119-07A9D741C7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421526"/>
            <a:ext cx="3264556" cy="326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7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C383-E7CC-2A65-7B8A-47FBDA21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167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Lab Agentic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866B2-CBC6-5681-ABE2-9B18C6396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1500" cy="4351338"/>
          </a:xfrm>
        </p:spPr>
        <p:txBody>
          <a:bodyPr/>
          <a:lstStyle/>
          <a:p>
            <a:r>
              <a:rPr lang="en-US" dirty="0"/>
              <a:t>Goal: Setup Agentic pipeline to automate classification model testing and hyper parameter tuning</a:t>
            </a:r>
          </a:p>
          <a:p>
            <a:r>
              <a:rPr lang="en-US" dirty="0"/>
              <a:t>Test at least 4 different classification models to the baseline random forest model</a:t>
            </a:r>
          </a:p>
          <a:p>
            <a:r>
              <a:rPr lang="en-US" dirty="0"/>
              <a:t>Get at least a significance of 45 using any classification model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8A9AB-7E94-5194-2D29-1E3B9DFD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7A0047-CE6A-A28E-6AD5-C6B9FF68C537}"/>
              </a:ext>
            </a:extLst>
          </p:cNvPr>
          <p:cNvSpPr/>
          <p:nvPr/>
        </p:nvSpPr>
        <p:spPr>
          <a:xfrm>
            <a:off x="6920706" y="122029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Agent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13AB916-EA3A-D7FF-9317-1C5788C02E5C}"/>
              </a:ext>
            </a:extLst>
          </p:cNvPr>
          <p:cNvSpPr/>
          <p:nvPr/>
        </p:nvSpPr>
        <p:spPr>
          <a:xfrm>
            <a:off x="9875839" y="51054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Agent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B3A451-BE17-DE0A-622F-B4E664C098CD}"/>
              </a:ext>
            </a:extLst>
          </p:cNvPr>
          <p:cNvSpPr/>
          <p:nvPr/>
        </p:nvSpPr>
        <p:spPr>
          <a:xfrm>
            <a:off x="9875839" y="28067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Signal Agent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5E140BF-3F73-26D6-2A8F-F2FDA5389A22}"/>
              </a:ext>
            </a:extLst>
          </p:cNvPr>
          <p:cNvSpPr/>
          <p:nvPr/>
        </p:nvSpPr>
        <p:spPr>
          <a:xfrm>
            <a:off x="6920707" y="28067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Agent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B979CBDF-879E-B705-E0AE-FE4D058850F4}"/>
              </a:ext>
            </a:extLst>
          </p:cNvPr>
          <p:cNvSpPr/>
          <p:nvPr/>
        </p:nvSpPr>
        <p:spPr>
          <a:xfrm rot="5400000">
            <a:off x="7589440" y="2068727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915BC3A-1318-F340-D44A-F886B8290A3F}"/>
              </a:ext>
            </a:extLst>
          </p:cNvPr>
          <p:cNvSpPr/>
          <p:nvPr/>
        </p:nvSpPr>
        <p:spPr>
          <a:xfrm>
            <a:off x="9067007" y="3517900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273AA1C3-8982-6FE5-2959-78FC2D0736F4}"/>
              </a:ext>
            </a:extLst>
          </p:cNvPr>
          <p:cNvSpPr/>
          <p:nvPr/>
        </p:nvSpPr>
        <p:spPr>
          <a:xfrm rot="5400000">
            <a:off x="10609420" y="4575019"/>
            <a:ext cx="679138" cy="317500"/>
          </a:xfrm>
          <a:prstGeom prst="rightArrow">
            <a:avLst>
              <a:gd name="adj1" fmla="val 34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5C3A00E-44AA-B2B3-29CC-F180415442C4}"/>
              </a:ext>
            </a:extLst>
          </p:cNvPr>
          <p:cNvSpPr/>
          <p:nvPr/>
        </p:nvSpPr>
        <p:spPr>
          <a:xfrm rot="10800000">
            <a:off x="9067007" y="5740400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ADA664-FD3E-BE1C-C254-5A1F19C804EC}"/>
              </a:ext>
            </a:extLst>
          </p:cNvPr>
          <p:cNvSpPr/>
          <p:nvPr/>
        </p:nvSpPr>
        <p:spPr>
          <a:xfrm>
            <a:off x="6920706" y="51054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650460A4-8146-0F04-64CC-ED5C91588F94}"/>
              </a:ext>
            </a:extLst>
          </p:cNvPr>
          <p:cNvSpPr/>
          <p:nvPr/>
        </p:nvSpPr>
        <p:spPr>
          <a:xfrm rot="13355968">
            <a:off x="8873687" y="4819296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ircular Arrow 14">
            <a:extLst>
              <a:ext uri="{FF2B5EF4-FFF2-40B4-BE49-F238E27FC236}">
                <a16:creationId xmlns:a16="http://schemas.microsoft.com/office/drawing/2014/main" id="{C69B8EF1-3018-1925-1CB1-8CEDE05E7327}"/>
              </a:ext>
            </a:extLst>
          </p:cNvPr>
          <p:cNvSpPr/>
          <p:nvPr/>
        </p:nvSpPr>
        <p:spPr>
          <a:xfrm>
            <a:off x="9308782" y="4277009"/>
            <a:ext cx="672625" cy="723106"/>
          </a:xfrm>
          <a:prstGeom prst="circularArrow">
            <a:avLst>
              <a:gd name="adj1" fmla="val 10293"/>
              <a:gd name="adj2" fmla="val 1142319"/>
              <a:gd name="adj3" fmla="val 9210750"/>
              <a:gd name="adj4" fmla="val 12085429"/>
              <a:gd name="adj5" fmla="val 1607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CE9509-F90C-ADC0-B006-4CCD2DEB37A7}"/>
              </a:ext>
            </a:extLst>
          </p:cNvPr>
          <p:cNvSpPr/>
          <p:nvPr/>
        </p:nvSpPr>
        <p:spPr>
          <a:xfrm>
            <a:off x="9875839" y="103188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4A9449FD-9885-30F1-D521-3F3F0515FCF4}"/>
              </a:ext>
            </a:extLst>
          </p:cNvPr>
          <p:cNvSpPr/>
          <p:nvPr/>
        </p:nvSpPr>
        <p:spPr>
          <a:xfrm rot="10800000">
            <a:off x="9067007" y="757029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F5E9-06EE-04D3-03C0-A9976A17C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Setting up Cerebras for Free 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51C54-C98B-DE5B-4823-36153E03C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87436" cy="4351338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https://cloud.cerebras.ai/</a:t>
            </a:r>
            <a:endParaRPr lang="en-US" dirty="0"/>
          </a:p>
          <a:p>
            <a:r>
              <a:rPr lang="en-US" dirty="0"/>
              <a:t>Free account with </a:t>
            </a:r>
            <a:r>
              <a:rPr lang="en-US" dirty="0" err="1"/>
              <a:t>uw</a:t>
            </a:r>
            <a:r>
              <a:rPr lang="en-US" dirty="0"/>
              <a:t> email</a:t>
            </a:r>
          </a:p>
          <a:p>
            <a:r>
              <a:rPr lang="en-US" dirty="0"/>
              <a:t>Free API key</a:t>
            </a:r>
          </a:p>
          <a:p>
            <a:r>
              <a:rPr lang="en-US" dirty="0"/>
              <a:t>Use llama3.1-8b in general</a:t>
            </a:r>
          </a:p>
          <a:p>
            <a:r>
              <a:rPr lang="en-US" dirty="0"/>
              <a:t>All free models open weight!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06CDC-8E57-D10C-9CD6-90FFC98F39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84"/>
          <a:stretch>
            <a:fillRect/>
          </a:stretch>
        </p:blipFill>
        <p:spPr>
          <a:xfrm>
            <a:off x="5389418" y="1514032"/>
            <a:ext cx="6735280" cy="304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C49621-9031-C2BB-AFB7-E443485322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001294"/>
            <a:ext cx="7772400" cy="2855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87A7D5-CF0A-8DBB-6AF1-7A1F3E6D46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65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C4746-862E-B774-3C1F-5270EEA57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722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Feature Extraction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72B69-8AA3-5099-4B56-F1F57DC2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Need to transform raw data to features used in classification model</a:t>
            </a:r>
          </a:p>
          <a:p>
            <a:r>
              <a:rPr lang="en-US" dirty="0"/>
              <a:t>Angular separations between jets, invariant masses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75582-3362-B362-E914-378202EB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3D7225-668C-7CFE-9D93-20A0054ED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600" y="3429000"/>
            <a:ext cx="4470400" cy="3363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3BFC37-5AAE-EE9C-EF4B-00DCBD52B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1600" y="0"/>
            <a:ext cx="4470400" cy="3363650"/>
          </a:xfrm>
          <a:prstGeom prst="rect">
            <a:avLst/>
          </a:prstGeom>
        </p:spPr>
      </p:pic>
      <p:pic>
        <p:nvPicPr>
          <p:cNvPr id="7" name="Picture 6" descr="Jet measurements at the LHC | James Mulligan">
            <a:extLst>
              <a:ext uri="{FF2B5EF4-FFF2-40B4-BE49-F238E27FC236}">
                <a16:creationId xmlns:a16="http://schemas.microsoft.com/office/drawing/2014/main" id="{889FCF23-49A1-BD27-0F77-2C000A78E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66950"/>
            <a:ext cx="7580313" cy="2425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C02D17-1005-3E63-3EBE-F13931EEDB09}"/>
              </a:ext>
            </a:extLst>
          </p:cNvPr>
          <p:cNvSpPr txBox="1"/>
          <p:nvPr/>
        </p:nvSpPr>
        <p:spPr>
          <a:xfrm>
            <a:off x="63500" y="4047347"/>
            <a:ext cx="730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www.jamesdmulligan.com</a:t>
            </a:r>
            <a:r>
              <a:rPr lang="en-US" dirty="0"/>
              <a:t>/project/</a:t>
            </a:r>
            <a:r>
              <a:rPr lang="en-US" dirty="0" err="1"/>
              <a:t>jet_measurements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05422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3189-7B7E-1F39-F901-05AAF4A4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Classification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9290D-2AC1-0E52-9DA6-15507D1BE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Baseline is random forest</a:t>
            </a:r>
          </a:p>
          <a:p>
            <a:r>
              <a:rPr lang="en-US" dirty="0"/>
              <a:t>Can fill out additional classification models for the Planning Agent to test out</a:t>
            </a:r>
          </a:p>
          <a:p>
            <a:r>
              <a:rPr lang="en-US" dirty="0"/>
              <a:t>Plot Receiving Operator Characteristic Curve (ROC)</a:t>
            </a:r>
          </a:p>
          <a:p>
            <a:r>
              <a:rPr lang="en-US" dirty="0"/>
              <a:t>Area Under Curve (AUC) is the area under the ROC curve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AB2396-75A7-B04F-40AB-CC880E98F2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48A763-4B3E-3980-5E6E-FE3358347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5473" y="3527361"/>
            <a:ext cx="4426527" cy="3330639"/>
          </a:xfrm>
          <a:prstGeom prst="rect">
            <a:avLst/>
          </a:prstGeom>
        </p:spPr>
      </p:pic>
      <p:pic>
        <p:nvPicPr>
          <p:cNvPr id="6" name="Picture 5" descr="Working of random forest algorithm. | Download Scientific Diagram">
            <a:extLst>
              <a:ext uri="{FF2B5EF4-FFF2-40B4-BE49-F238E27FC236}">
                <a16:creationId xmlns:a16="http://schemas.microsoft.com/office/drawing/2014/main" id="{5F71E107-64FC-7EAD-955F-C3E1FD7EC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786" y="1169338"/>
            <a:ext cx="30099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056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7E20-A54B-D096-9A88-F9B269F26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9613-4653-2773-9F0D-E151EDD6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Planning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65E1A-BA06-8AE6-8237-559FC1F20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Llama3.1-8B is still not a great coding model</a:t>
            </a:r>
          </a:p>
          <a:p>
            <a:r>
              <a:rPr lang="en-US" dirty="0"/>
              <a:t>Planning Agent reviews results from last run</a:t>
            </a:r>
          </a:p>
          <a:p>
            <a:r>
              <a:rPr lang="en-US" dirty="0"/>
              <a:t> Tune hyper parameters, features selection, or even try a new model</a:t>
            </a:r>
          </a:p>
          <a:p>
            <a:r>
              <a:rPr lang="en-US" dirty="0"/>
              <a:t>Add many different types of classification model to the planning agent has ample opportunities to test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35F97D-BD57-F9F5-F1E5-7662CE840F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21A7A0-00BE-96C2-926A-B8B71160A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600" y="813738"/>
            <a:ext cx="2501900" cy="711200"/>
          </a:xfrm>
          <a:prstGeom prst="rect">
            <a:avLst/>
          </a:prstGeom>
        </p:spPr>
      </p:pic>
      <p:pic>
        <p:nvPicPr>
          <p:cNvPr id="7" name="Picture 6" descr="Interfaces For Explaining Transformer Language Models at Ronald Prell blog">
            <a:extLst>
              <a:ext uri="{FF2B5EF4-FFF2-40B4-BE49-F238E27FC236}">
                <a16:creationId xmlns:a16="http://schemas.microsoft.com/office/drawing/2014/main" id="{07F30A38-59BA-D138-6DC8-A8AB895A07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958" r="22337"/>
          <a:stretch>
            <a:fillRect/>
          </a:stretch>
        </p:blipFill>
        <p:spPr>
          <a:xfrm>
            <a:off x="7518400" y="1546386"/>
            <a:ext cx="3732645" cy="531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979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9CDA3-C0F9-D08C-C538-F0F809577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977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Signal Analysis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6CD5-CB12-475C-FF3C-6D34EE1C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Scan signal to background threshold from the used classifier</a:t>
            </a:r>
          </a:p>
          <a:p>
            <a:r>
              <a:rPr lang="en-US" dirty="0"/>
              <a:t>Significance – Of the events that pass the threshold how many are signal or background? </a:t>
            </a:r>
          </a:p>
          <a:p>
            <a:r>
              <a:rPr lang="en-US" dirty="0"/>
              <a:t>Significance &gt; 5 is discovery</a:t>
            </a:r>
          </a:p>
          <a:p>
            <a:r>
              <a:rPr lang="en-US" dirty="0"/>
              <a:t>What other figures of merit for the analysis?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544540-2E7E-FC7E-580D-D3A00686F1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1B37BC-34E6-0677-FD90-20A568139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621" y="0"/>
            <a:ext cx="4552379" cy="3314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C091E-E4F7-9C6D-6135-4BCA8DA111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377"/>
          <a:stretch>
            <a:fillRect/>
          </a:stretch>
        </p:blipFill>
        <p:spPr>
          <a:xfrm>
            <a:off x="4152900" y="4001294"/>
            <a:ext cx="1333500" cy="704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20A2F9-BCEB-A9B2-3BB1-E4E112ED8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621" y="3299172"/>
            <a:ext cx="4552379" cy="341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19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1EF1-0C35-D79B-70EA-0B102AA9D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977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Putting it Together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39CB21-E81E-7CA9-3054-10BE4AEC92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925BA4-69D8-98F9-A07A-B611A87F2DB8}"/>
              </a:ext>
            </a:extLst>
          </p:cNvPr>
          <p:cNvSpPr/>
          <p:nvPr/>
        </p:nvSpPr>
        <p:spPr>
          <a:xfrm>
            <a:off x="6920706" y="122029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Agent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0A527E6-4702-83CF-29C3-0CCAD0DF5418}"/>
              </a:ext>
            </a:extLst>
          </p:cNvPr>
          <p:cNvSpPr/>
          <p:nvPr/>
        </p:nvSpPr>
        <p:spPr>
          <a:xfrm>
            <a:off x="9875839" y="51054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Planning Agent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1209A47-D706-E8BA-2132-FA56FA4C4450}"/>
              </a:ext>
            </a:extLst>
          </p:cNvPr>
          <p:cNvSpPr/>
          <p:nvPr/>
        </p:nvSpPr>
        <p:spPr>
          <a:xfrm>
            <a:off x="9875839" y="28067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Signal Agent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C6B273E-A5B0-18D8-1CE1-AF6057A38DBB}"/>
              </a:ext>
            </a:extLst>
          </p:cNvPr>
          <p:cNvSpPr/>
          <p:nvPr/>
        </p:nvSpPr>
        <p:spPr>
          <a:xfrm>
            <a:off x="6920707" y="28067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 Agent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023EEB94-3317-D9BC-FAC0-8646241E2A5F}"/>
              </a:ext>
            </a:extLst>
          </p:cNvPr>
          <p:cNvSpPr/>
          <p:nvPr/>
        </p:nvSpPr>
        <p:spPr>
          <a:xfrm rot="5400000">
            <a:off x="7589440" y="2068727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06BA8BD0-F39A-0474-6BBE-447DAA8B7AE5}"/>
              </a:ext>
            </a:extLst>
          </p:cNvPr>
          <p:cNvSpPr/>
          <p:nvPr/>
        </p:nvSpPr>
        <p:spPr>
          <a:xfrm>
            <a:off x="9067007" y="3517900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C865229-233E-ADFF-F503-DBC1794D6BAC}"/>
              </a:ext>
            </a:extLst>
          </p:cNvPr>
          <p:cNvSpPr/>
          <p:nvPr/>
        </p:nvSpPr>
        <p:spPr>
          <a:xfrm rot="5400000">
            <a:off x="10609420" y="4575019"/>
            <a:ext cx="679138" cy="317500"/>
          </a:xfrm>
          <a:prstGeom prst="rightArrow">
            <a:avLst>
              <a:gd name="adj1" fmla="val 34000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350E9CB-8294-7A92-3378-308B00CE2548}"/>
              </a:ext>
            </a:extLst>
          </p:cNvPr>
          <p:cNvSpPr/>
          <p:nvPr/>
        </p:nvSpPr>
        <p:spPr>
          <a:xfrm rot="10800000">
            <a:off x="9067007" y="5740400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D21723-2F33-581B-BC0C-460E6CA36E05}"/>
              </a:ext>
            </a:extLst>
          </p:cNvPr>
          <p:cNvSpPr/>
          <p:nvPr/>
        </p:nvSpPr>
        <p:spPr>
          <a:xfrm>
            <a:off x="6920706" y="5105400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Human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479886A-D49E-6879-018A-E5A68A0394DD}"/>
              </a:ext>
            </a:extLst>
          </p:cNvPr>
          <p:cNvSpPr/>
          <p:nvPr/>
        </p:nvSpPr>
        <p:spPr>
          <a:xfrm rot="13355968">
            <a:off x="8873687" y="4819296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2DD388D-7376-C5F8-45D6-5F617B4F9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5701" cy="4351338"/>
          </a:xfrm>
        </p:spPr>
        <p:txBody>
          <a:bodyPr/>
          <a:lstStyle/>
          <a:p>
            <a:r>
              <a:rPr lang="en-US" dirty="0"/>
              <a:t>After completing each agent put together the loop</a:t>
            </a:r>
          </a:p>
          <a:p>
            <a:r>
              <a:rPr lang="en-US" dirty="0"/>
              <a:t>Try at least 5 different classification models </a:t>
            </a:r>
          </a:p>
          <a:p>
            <a:r>
              <a:rPr lang="en-US" dirty="0"/>
              <a:t>Goal is to beat random forest baseline and try 4 different models</a:t>
            </a:r>
          </a:p>
        </p:txBody>
      </p:sp>
      <p:sp>
        <p:nvSpPr>
          <p:cNvPr id="16" name="Circular Arrow 15">
            <a:extLst>
              <a:ext uri="{FF2B5EF4-FFF2-40B4-BE49-F238E27FC236}">
                <a16:creationId xmlns:a16="http://schemas.microsoft.com/office/drawing/2014/main" id="{27E41DC6-2B21-A5DC-BAFE-1DAC72915E08}"/>
              </a:ext>
            </a:extLst>
          </p:cNvPr>
          <p:cNvSpPr/>
          <p:nvPr/>
        </p:nvSpPr>
        <p:spPr>
          <a:xfrm>
            <a:off x="9308782" y="4277009"/>
            <a:ext cx="672625" cy="723106"/>
          </a:xfrm>
          <a:prstGeom prst="circularArrow">
            <a:avLst>
              <a:gd name="adj1" fmla="val 10293"/>
              <a:gd name="adj2" fmla="val 1142319"/>
              <a:gd name="adj3" fmla="val 9210750"/>
              <a:gd name="adj4" fmla="val 12085429"/>
              <a:gd name="adj5" fmla="val 1607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C3865E3-3FCA-A4A3-F8D3-FB4C73CA7CD5}"/>
              </a:ext>
            </a:extLst>
          </p:cNvPr>
          <p:cNvSpPr/>
          <p:nvPr/>
        </p:nvSpPr>
        <p:spPr>
          <a:xfrm>
            <a:off x="9875839" y="103188"/>
            <a:ext cx="2146300" cy="15875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B01FF978-F401-F783-1B8E-EECE1CA9D6CF}"/>
              </a:ext>
            </a:extLst>
          </p:cNvPr>
          <p:cNvSpPr/>
          <p:nvPr/>
        </p:nvSpPr>
        <p:spPr>
          <a:xfrm rot="10800000">
            <a:off x="9067007" y="757029"/>
            <a:ext cx="808832" cy="3175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4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748A-9D57-C641-FED5-2DEB43D30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03300" y="36018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Outlook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608E0-4C57-8855-9E74-3952D5E21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421"/>
            <a:ext cx="6159500" cy="4351338"/>
          </a:xfrm>
        </p:spPr>
        <p:txBody>
          <a:bodyPr/>
          <a:lstStyle/>
          <a:p>
            <a:r>
              <a:rPr lang="en-US" dirty="0"/>
              <a:t>AI is a tool meant to help us learn and do more / higher quality work.</a:t>
            </a:r>
          </a:p>
          <a:p>
            <a:r>
              <a:rPr lang="en-US" dirty="0"/>
              <a:t>AI is not meant to replace humans!</a:t>
            </a:r>
          </a:p>
          <a:p>
            <a:r>
              <a:rPr lang="en-US" dirty="0"/>
              <a:t>It is irrational to fear new technology, but rational to be concerned about how it is used.</a:t>
            </a:r>
          </a:p>
          <a:p>
            <a:r>
              <a:rPr lang="en-US" dirty="0"/>
              <a:t>Using AI too much can hurt learning retention. Be cautious in how you use it!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8F2215-EB40-A0A9-2105-5FAAB865F0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t="4247" r="7345" b="8236"/>
          <a:stretch>
            <a:fillRect/>
          </a:stretch>
        </p:blipFill>
        <p:spPr>
          <a:xfrm>
            <a:off x="0" y="-8299"/>
            <a:ext cx="1066800" cy="1177637"/>
          </a:xfrm>
          <a:prstGeom prst="rect">
            <a:avLst/>
          </a:prstGeom>
        </p:spPr>
      </p:pic>
      <p:pic>
        <p:nvPicPr>
          <p:cNvPr id="5" name="Picture 4" descr="r/singularity - Well, this is funny">
            <a:extLst>
              <a:ext uri="{FF2B5EF4-FFF2-40B4-BE49-F238E27FC236}">
                <a16:creationId xmlns:a16="http://schemas.microsoft.com/office/drawing/2014/main" id="{5B716519-B129-6373-FAE7-E08658A33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0" y="-8299"/>
            <a:ext cx="4318000" cy="42033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705C16-37D2-9B2C-381A-7CD1BBBED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136" y="4130440"/>
            <a:ext cx="4473864" cy="27275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3774D9-E153-C909-4166-8767F8EF4045}"/>
              </a:ext>
            </a:extLst>
          </p:cNvPr>
          <p:cNvSpPr txBox="1"/>
          <p:nvPr/>
        </p:nvSpPr>
        <p:spPr>
          <a:xfrm>
            <a:off x="533400" y="6048842"/>
            <a:ext cx="6597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www.sciencedirect.com</a:t>
            </a:r>
            <a:r>
              <a:rPr lang="en-US" dirty="0"/>
              <a:t>/science/article/</a:t>
            </a:r>
            <a:r>
              <a:rPr lang="en-US" dirty="0" err="1"/>
              <a:t>pii</a:t>
            </a:r>
            <a:r>
              <a:rPr lang="en-US" dirty="0"/>
              <a:t>/S2590291125010186</a:t>
            </a:r>
          </a:p>
        </p:txBody>
      </p:sp>
    </p:spTree>
    <p:extLst>
      <p:ext uri="{BB962C8B-B14F-4D97-AF65-F5344CB8AC3E}">
        <p14:creationId xmlns:p14="http://schemas.microsoft.com/office/powerpoint/2010/main" val="73081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564</Words>
  <Application>Microsoft Macintosh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Lab 7: Agentic AI in Physics Analysis Pipeline</vt:lpstr>
      <vt:lpstr>What is Agentic AI?</vt:lpstr>
      <vt:lpstr>What is Agentic AI Used For?</vt:lpstr>
      <vt:lpstr>Emerging Agentic Workflows in Physics</vt:lpstr>
      <vt:lpstr>Lab 7 – Exotic Higgs Decay Agentic Analysis</vt:lpstr>
      <vt:lpstr>Lab Agentic Workflow</vt:lpstr>
      <vt:lpstr>Setting up Cerebras for Free Tokens</vt:lpstr>
      <vt:lpstr>Feature Extraction Agent</vt:lpstr>
      <vt:lpstr>Classification Agent</vt:lpstr>
      <vt:lpstr>Planning Agent</vt:lpstr>
      <vt:lpstr>Signal Analysis Agent</vt:lpstr>
      <vt:lpstr>Putting it Together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Hoyt, Aaron C</dc:creator>
  <cp:lastModifiedBy>Hoyt, Aaron C</cp:lastModifiedBy>
  <cp:revision>2</cp:revision>
  <dcterms:created xsi:type="dcterms:W3CDTF">2026-05-10T00:40:06Z</dcterms:created>
  <dcterms:modified xsi:type="dcterms:W3CDTF">2026-05-11T01:12:28Z</dcterms:modified>
</cp:coreProperties>
</file>