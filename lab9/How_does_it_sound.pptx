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2918400" cy="21945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3"/>
    <p:restoredTop sz="87150" autoAdjust="0"/>
  </p:normalViewPr>
  <p:slideViewPr>
    <p:cSldViewPr snapToGrid="0" snapToObjects="1">
      <p:cViewPr varScale="1">
        <p:scale>
          <a:sx n="27" d="100"/>
          <a:sy n="27" d="100"/>
        </p:scale>
        <p:origin x="18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Shape 24"/>
          <p:cNvSpPr>
            <a:spLocks noGrp="1" noRot="1" noChangeAspect="1"/>
          </p:cNvSpPr>
          <p:nvPr>
            <p:ph type="sldImg"/>
          </p:nvPr>
        </p:nvSpPr>
        <p:spPr>
          <a:xfrm>
            <a:off x="1143000" y="685800"/>
            <a:ext cx="4572000" cy="3429000"/>
          </a:xfrm>
          <a:prstGeom prst="rect">
            <a:avLst/>
          </a:prstGeom>
        </p:spPr>
        <p:txBody>
          <a:bodyPr/>
          <a:lstStyle/>
          <a:p>
            <a:endParaRPr/>
          </a:p>
        </p:txBody>
      </p:sp>
      <p:sp>
        <p:nvSpPr>
          <p:cNvPr id="25" name="Shape 2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633155" latinLnBrk="0">
      <a:defRPr sz="3400">
        <a:latin typeface="+mn-lt"/>
        <a:ea typeface="+mn-ea"/>
        <a:cs typeface="+mn-cs"/>
        <a:sym typeface="Calibri"/>
      </a:defRPr>
    </a:lvl1pPr>
    <a:lvl2pPr indent="228600" defTabSz="2633155" latinLnBrk="0">
      <a:defRPr sz="3400">
        <a:latin typeface="+mn-lt"/>
        <a:ea typeface="+mn-ea"/>
        <a:cs typeface="+mn-cs"/>
        <a:sym typeface="Calibri"/>
      </a:defRPr>
    </a:lvl2pPr>
    <a:lvl3pPr indent="457200" defTabSz="2633155" latinLnBrk="0">
      <a:defRPr sz="3400">
        <a:latin typeface="+mn-lt"/>
        <a:ea typeface="+mn-ea"/>
        <a:cs typeface="+mn-cs"/>
        <a:sym typeface="Calibri"/>
      </a:defRPr>
    </a:lvl3pPr>
    <a:lvl4pPr indent="685800" defTabSz="2633155" latinLnBrk="0">
      <a:defRPr sz="3400">
        <a:latin typeface="+mn-lt"/>
        <a:ea typeface="+mn-ea"/>
        <a:cs typeface="+mn-cs"/>
        <a:sym typeface="Calibri"/>
      </a:defRPr>
    </a:lvl4pPr>
    <a:lvl5pPr indent="914400" defTabSz="2633155" latinLnBrk="0">
      <a:defRPr sz="3400">
        <a:latin typeface="+mn-lt"/>
        <a:ea typeface="+mn-ea"/>
        <a:cs typeface="+mn-cs"/>
        <a:sym typeface="Calibri"/>
      </a:defRPr>
    </a:lvl5pPr>
    <a:lvl6pPr indent="1143000" defTabSz="2633155" latinLnBrk="0">
      <a:defRPr sz="3400">
        <a:latin typeface="+mn-lt"/>
        <a:ea typeface="+mn-ea"/>
        <a:cs typeface="+mn-cs"/>
        <a:sym typeface="Calibri"/>
      </a:defRPr>
    </a:lvl6pPr>
    <a:lvl7pPr indent="1371600" defTabSz="2633155" latinLnBrk="0">
      <a:defRPr sz="3400">
        <a:latin typeface="+mn-lt"/>
        <a:ea typeface="+mn-ea"/>
        <a:cs typeface="+mn-cs"/>
        <a:sym typeface="Calibri"/>
      </a:defRPr>
    </a:lvl7pPr>
    <a:lvl8pPr indent="1600200" defTabSz="2633155" latinLnBrk="0">
      <a:defRPr sz="3400">
        <a:latin typeface="+mn-lt"/>
        <a:ea typeface="+mn-ea"/>
        <a:cs typeface="+mn-cs"/>
        <a:sym typeface="Calibri"/>
      </a:defRPr>
    </a:lvl8pPr>
    <a:lvl9pPr indent="1828800" defTabSz="2633155" latinLnBrk="0">
      <a:defRPr sz="34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7250" y="685800"/>
            <a:ext cx="5143500" cy="3429000"/>
          </a:xfrm>
        </p:spPr>
      </p:sp>
      <p:sp>
        <p:nvSpPr>
          <p:cNvPr id="3" name="Notes Placeholder 2"/>
          <p:cNvSpPr>
            <a:spLocks noGrp="1"/>
          </p:cNvSpPr>
          <p:nvPr>
            <p:ph type="body" idx="1"/>
          </p:nvPr>
        </p:nvSpPr>
        <p:spPr/>
        <p:txBody>
          <a:bodyPr/>
          <a:lstStyle/>
          <a:p>
            <a:pPr algn="l" defTabSz="2633155" rtl="0" latinLnBrk="0"/>
            <a:endParaRPr lang="en-US" dirty="0"/>
          </a:p>
          <a:p>
            <a:pPr algn="l" defTabSz="2633155" rtl="0" latinLnBrk="0"/>
            <a:endParaRPr lang="en-US" dirty="0"/>
          </a:p>
          <a:p>
            <a:r>
              <a:rPr lang="en-US" sz="3600" dirty="0">
                <a:solidFill>
                  <a:srgbClr val="000000"/>
                </a:solidFill>
                <a:latin typeface="Arial" panose="020B0604020202020204" pitchFamily="34" charset="0"/>
                <a:cs typeface="Arial" panose="020B0604020202020204" pitchFamily="34" charset="0"/>
              </a:rPr>
              <a:t>	</a:t>
            </a:r>
          </a:p>
          <a:p>
            <a:pPr algn="l" defTabSz="2633155" rtl="0" latinLnBrk="0"/>
            <a:endParaRPr lang="en-US" dirty="0"/>
          </a:p>
        </p:txBody>
      </p:sp>
    </p:spTree>
    <p:extLst>
      <p:ext uri="{BB962C8B-B14F-4D97-AF65-F5344CB8AC3E}">
        <p14:creationId xmlns:p14="http://schemas.microsoft.com/office/powerpoint/2010/main" val="1469714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FB AI">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B AI Research ">
    <p:spTree>
      <p:nvGrpSpPr>
        <p:cNvPr id="1" name=""/>
        <p:cNvGrpSpPr/>
        <p:nvPr/>
      </p:nvGrpSpPr>
      <p:grpSpPr>
        <a:xfrm>
          <a:off x="0" y="0"/>
          <a:ext cx="0" cy="0"/>
          <a:chOff x="0" y="0"/>
          <a:chExt cx="0" cy="0"/>
        </a:xfrm>
      </p:grpSpPr>
      <p:sp>
        <p:nvSpPr>
          <p:cNvPr id="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45920" y="294640"/>
            <a:ext cx="29626561" cy="4826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3" name="Body Level One…"/>
          <p:cNvSpPr txBox="1">
            <a:spLocks noGrp="1"/>
          </p:cNvSpPr>
          <p:nvPr>
            <p:ph type="body" idx="1"/>
          </p:nvPr>
        </p:nvSpPr>
        <p:spPr>
          <a:xfrm>
            <a:off x="1645920" y="5120640"/>
            <a:ext cx="29626561" cy="16824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5910559" y="19756119"/>
            <a:ext cx="7680961" cy="1168401"/>
          </a:xfrm>
          <a:prstGeom prst="rect">
            <a:avLst/>
          </a:prstGeom>
          <a:ln w="12700">
            <a:miter lim="400000"/>
          </a:ln>
        </p:spPr>
        <p:txBody>
          <a:bodyPr wrap="none" lIns="45719" rIns="45719" anchor="ctr">
            <a:spAutoFit/>
          </a:bodyPr>
          <a:lstStyle>
            <a:lvl1pPr algn="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1pPr>
      <a:lvl2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2pPr>
      <a:lvl3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3pPr>
      <a:lvl4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4pPr>
      <a:lvl5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5pPr>
      <a:lvl6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6pPr>
      <a:lvl7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7pPr>
      <a:lvl8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8pPr>
      <a:lvl9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9pPr>
    </p:titleStyle>
    <p:bodyStyle>
      <a:lvl1pPr marL="731556" marR="0" indent="-731556"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1pPr>
      <a:lvl2pPr marL="2319804" marR="0" indent="-856691"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2pPr>
      <a:lvl3pPr marL="3943547" marR="0" indent="-1017321"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3pPr>
      <a:lvl4pPr marL="5531594"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4pPr>
      <a:lvl5pPr marL="6994707"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5pPr>
      <a:lvl6pPr marL="8457820"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6pPr>
      <a:lvl7pPr marL="9920933"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7pPr>
      <a:lvl8pPr marL="11384047"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8pPr>
      <a:lvl9pPr marL="12847160"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9pPr>
    </p:bodyStyle>
    <p:otherStyle>
      <a:lvl1pPr marL="0" marR="0" indent="0"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326532"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653064"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979596"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306128"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1632661"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1959193"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2285725"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2612257"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jpe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75">
            <a:extLst>
              <a:ext uri="{FF2B5EF4-FFF2-40B4-BE49-F238E27FC236}">
                <a16:creationId xmlns:a16="http://schemas.microsoft.com/office/drawing/2014/main" id="{F6BA3B4E-B32C-4F93-9588-920B35529982}"/>
              </a:ext>
            </a:extLst>
          </p:cNvPr>
          <p:cNvPicPr>
            <a:picLocks noChangeAspect="1"/>
          </p:cNvPicPr>
          <p:nvPr/>
        </p:nvPicPr>
        <p:blipFill rotWithShape="1">
          <a:blip r:embed="rId3"/>
          <a:srcRect l="6791" t="14078" r="10095" b="21750"/>
          <a:stretch/>
        </p:blipFill>
        <p:spPr>
          <a:xfrm>
            <a:off x="21646472" y="1031713"/>
            <a:ext cx="3496586" cy="1123007"/>
          </a:xfrm>
          <a:prstGeom prst="rect">
            <a:avLst/>
          </a:prstGeom>
        </p:spPr>
      </p:pic>
      <p:sp>
        <p:nvSpPr>
          <p:cNvPr id="5" name="TextBox 47">
            <a:extLst>
              <a:ext uri="{FF2B5EF4-FFF2-40B4-BE49-F238E27FC236}">
                <a16:creationId xmlns:a16="http://schemas.microsoft.com/office/drawing/2014/main" id="{299A2238-EEA9-40C6-8D5B-19B5CA7CE47B}"/>
              </a:ext>
            </a:extLst>
          </p:cNvPr>
          <p:cNvSpPr txBox="1"/>
          <p:nvPr/>
        </p:nvSpPr>
        <p:spPr>
          <a:xfrm>
            <a:off x="496183" y="12164032"/>
            <a:ext cx="8962732" cy="12198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120000"/>
              </a:lnSpc>
              <a:defRPr sz="2100">
                <a:solidFill>
                  <a:srgbClr val="344854"/>
                </a:solidFill>
                <a:latin typeface="Arial"/>
                <a:ea typeface="Arial"/>
                <a:cs typeface="Arial"/>
                <a:sym typeface="Arial"/>
              </a:defRPr>
            </a:lvl1pPr>
          </a:lstStyle>
          <a:p>
            <a:r>
              <a:rPr lang="en-US" sz="3200" dirty="0">
                <a:solidFill>
                  <a:srgbClr val="000000"/>
                </a:solidFill>
                <a:latin typeface="Arial" panose="020B0604020202020204" pitchFamily="34" charset="0"/>
                <a:ea typeface="+mn-ea"/>
                <a:cs typeface="Arial" panose="020B0604020202020204" pitchFamily="34" charset="0"/>
              </a:rPr>
              <a:t>We decompose the rhythm into two streams: </a:t>
            </a:r>
            <a:r>
              <a:rPr lang="en-US" sz="3200" b="1" dirty="0">
                <a:solidFill>
                  <a:srgbClr val="000000"/>
                </a:solidFill>
                <a:latin typeface="Arial" panose="020B0604020202020204" pitchFamily="34" charset="0"/>
                <a:ea typeface="+mn-ea"/>
                <a:cs typeface="Arial" panose="020B0604020202020204" pitchFamily="34" charset="0"/>
              </a:rPr>
              <a:t>Beat</a:t>
            </a:r>
            <a:r>
              <a:rPr lang="en-US" sz="3200" dirty="0">
                <a:solidFill>
                  <a:srgbClr val="000000"/>
                </a:solidFill>
                <a:latin typeface="Arial" panose="020B0604020202020204" pitchFamily="34" charset="0"/>
                <a:ea typeface="+mn-ea"/>
                <a:cs typeface="Arial" panose="020B0604020202020204" pitchFamily="34" charset="0"/>
              </a:rPr>
              <a:t> and </a:t>
            </a:r>
            <a:r>
              <a:rPr lang="en-US" sz="3200" b="1" dirty="0">
                <a:solidFill>
                  <a:srgbClr val="000000"/>
                </a:solidFill>
                <a:latin typeface="Arial" panose="020B0604020202020204" pitchFamily="34" charset="0"/>
                <a:ea typeface="+mn-ea"/>
                <a:cs typeface="Arial" panose="020B0604020202020204" pitchFamily="34" charset="0"/>
              </a:rPr>
              <a:t>Style</a:t>
            </a:r>
            <a:r>
              <a:rPr lang="en-US" sz="3200" dirty="0">
                <a:solidFill>
                  <a:srgbClr val="000000"/>
                </a:solidFill>
                <a:latin typeface="Arial" panose="020B0604020202020204" pitchFamily="34" charset="0"/>
                <a:ea typeface="+mn-ea"/>
                <a:cs typeface="Arial" panose="020B0604020202020204" pitchFamily="34" charset="0"/>
              </a:rPr>
              <a:t>. </a:t>
            </a:r>
          </a:p>
        </p:txBody>
      </p:sp>
      <p:sp>
        <p:nvSpPr>
          <p:cNvPr id="30" name="TextBox 35"/>
          <p:cNvSpPr txBox="1"/>
          <p:nvPr/>
        </p:nvSpPr>
        <p:spPr>
          <a:xfrm>
            <a:off x="968274" y="418761"/>
            <a:ext cx="23736568"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sz="5500">
                <a:latin typeface="Arial"/>
                <a:ea typeface="Arial"/>
                <a:cs typeface="Arial"/>
                <a:sym typeface="Arial"/>
              </a:defRPr>
            </a:lvl1pPr>
          </a:lstStyle>
          <a:p>
            <a:r>
              <a:rPr lang="en-US" sz="4400" b="1" i="1" dirty="0"/>
              <a:t>How Does it Sound? Generation of Rhythmic Soundtrack for Human Movements</a:t>
            </a:r>
            <a:endParaRPr sz="4400" b="1" dirty="0"/>
          </a:p>
        </p:txBody>
      </p:sp>
      <p:sp>
        <p:nvSpPr>
          <p:cNvPr id="34" name="TextBox 39"/>
          <p:cNvSpPr txBox="1"/>
          <p:nvPr/>
        </p:nvSpPr>
        <p:spPr>
          <a:xfrm>
            <a:off x="496183" y="7277977"/>
            <a:ext cx="9759587" cy="12937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120000"/>
              </a:lnSpc>
              <a:defRPr sz="2100">
                <a:solidFill>
                  <a:srgbClr val="344854"/>
                </a:solidFill>
                <a:latin typeface="Arial"/>
                <a:ea typeface="Arial"/>
                <a:cs typeface="Arial"/>
                <a:sym typeface="Arial"/>
              </a:defRPr>
            </a:lvl1pPr>
          </a:lstStyle>
          <a:p>
            <a:r>
              <a:rPr lang="en-US" sz="3600" b="1" i="1" dirty="0" err="1">
                <a:solidFill>
                  <a:srgbClr val="000000"/>
                </a:solidFill>
                <a:effectLst/>
                <a:latin typeface="Arial" panose="020B0604020202020204" pitchFamily="34" charset="0"/>
                <a:cs typeface="Arial" panose="020B0604020202020204" pitchFamily="34" charset="0"/>
              </a:rPr>
              <a:t>RhythmicNet</a:t>
            </a:r>
            <a:r>
              <a:rPr lang="en-US" sz="3200" b="0" i="0" dirty="0">
                <a:solidFill>
                  <a:srgbClr val="000000"/>
                </a:solidFill>
                <a:effectLst/>
                <a:latin typeface="Arial" panose="020B0604020202020204" pitchFamily="34" charset="0"/>
                <a:cs typeface="Arial" panose="020B0604020202020204" pitchFamily="34" charset="0"/>
              </a:rPr>
              <a:t>  pipeline takes as an input video with human movements and generates a soundtrack for it. </a:t>
            </a:r>
          </a:p>
        </p:txBody>
      </p:sp>
      <p:sp>
        <p:nvSpPr>
          <p:cNvPr id="35" name="TextBox 41"/>
          <p:cNvSpPr txBox="1"/>
          <p:nvPr/>
        </p:nvSpPr>
        <p:spPr>
          <a:xfrm>
            <a:off x="10978464" y="10754999"/>
            <a:ext cx="9653799" cy="40318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120000"/>
              </a:lnSpc>
              <a:defRPr sz="2100">
                <a:solidFill>
                  <a:srgbClr val="344854"/>
                </a:solidFill>
                <a:latin typeface="Arial"/>
                <a:ea typeface="Arial"/>
                <a:cs typeface="Arial"/>
                <a:sym typeface="Arial"/>
              </a:defRPr>
            </a:lvl1pPr>
          </a:lstStyle>
          <a:p>
            <a:pPr>
              <a:lnSpc>
                <a:spcPct val="100000"/>
              </a:lnSpc>
            </a:pPr>
            <a:r>
              <a:rPr lang="en-US" sz="3200" dirty="0">
                <a:solidFill>
                  <a:srgbClr val="000000"/>
                </a:solidFill>
                <a:latin typeface="Arial" panose="020B0604020202020204" pitchFamily="34" charset="0"/>
                <a:ea typeface="+mn-ea"/>
                <a:cs typeface="Arial" panose="020B0604020202020204" pitchFamily="34" charset="0"/>
                <a:sym typeface="Calibri"/>
              </a:rPr>
              <a:t>Rhythm2Drum transforms the rhythm into drum</a:t>
            </a:r>
            <a:r>
              <a:rPr lang="zh-CN" altLang="en-US" sz="3200" dirty="0">
                <a:solidFill>
                  <a:srgbClr val="000000"/>
                </a:solidFill>
                <a:latin typeface="Arial" panose="020B0604020202020204" pitchFamily="34" charset="0"/>
                <a:ea typeface="+mn-ea"/>
                <a:cs typeface="Arial" panose="020B0604020202020204" pitchFamily="34" charset="0"/>
                <a:sym typeface="Calibri"/>
              </a:rPr>
              <a:t> </a:t>
            </a:r>
            <a:r>
              <a:rPr lang="en-US" sz="3200" dirty="0">
                <a:solidFill>
                  <a:srgbClr val="000000"/>
                </a:solidFill>
                <a:latin typeface="Arial" panose="020B0604020202020204" pitchFamily="34" charset="0"/>
                <a:ea typeface="+mn-ea"/>
                <a:cs typeface="Arial" panose="020B0604020202020204" pitchFamily="34" charset="0"/>
                <a:sym typeface="Calibri"/>
              </a:rPr>
              <a:t>sounds. It implements an </a:t>
            </a:r>
            <a:r>
              <a:rPr lang="en-US" sz="3200" b="1" dirty="0">
                <a:solidFill>
                  <a:srgbClr val="000000"/>
                </a:solidFill>
                <a:latin typeface="Arial" panose="020B0604020202020204" pitchFamily="34" charset="0"/>
                <a:ea typeface="+mn-ea"/>
                <a:cs typeface="Arial" panose="020B0604020202020204" pitchFamily="34" charset="0"/>
                <a:sym typeface="Calibri"/>
              </a:rPr>
              <a:t>E</a:t>
            </a:r>
            <a:r>
              <a:rPr lang="en-US" sz="3200" dirty="0">
                <a:solidFill>
                  <a:srgbClr val="000000"/>
                </a:solidFill>
                <a:latin typeface="Arial" panose="020B0604020202020204" pitchFamily="34" charset="0"/>
                <a:ea typeface="+mn-ea"/>
                <a:cs typeface="Arial" panose="020B0604020202020204" pitchFamily="34" charset="0"/>
                <a:sym typeface="Calibri"/>
              </a:rPr>
              <a:t>ncoder-</a:t>
            </a:r>
            <a:r>
              <a:rPr lang="en-US" sz="3200" b="1" dirty="0">
                <a:solidFill>
                  <a:srgbClr val="000000"/>
                </a:solidFill>
                <a:latin typeface="Arial" panose="020B0604020202020204" pitchFamily="34" charset="0"/>
                <a:ea typeface="+mn-ea"/>
                <a:cs typeface="Arial" panose="020B0604020202020204" pitchFamily="34" charset="0"/>
                <a:sym typeface="Calibri"/>
              </a:rPr>
              <a:t>D</a:t>
            </a:r>
            <a:r>
              <a:rPr lang="en-US" sz="3200" dirty="0">
                <a:solidFill>
                  <a:srgbClr val="000000"/>
                </a:solidFill>
                <a:latin typeface="Arial" panose="020B0604020202020204" pitchFamily="34" charset="0"/>
                <a:ea typeface="+mn-ea"/>
                <a:cs typeface="Arial" panose="020B0604020202020204" pitchFamily="34" charset="0"/>
                <a:sym typeface="Calibri"/>
              </a:rPr>
              <a:t>ecoder </a:t>
            </a:r>
            <a:r>
              <a:rPr lang="en-US" sz="3200" b="1" dirty="0">
                <a:solidFill>
                  <a:srgbClr val="000000"/>
                </a:solidFill>
                <a:latin typeface="Arial" panose="020B0604020202020204" pitchFamily="34" charset="0"/>
                <a:ea typeface="+mn-ea"/>
                <a:cs typeface="Arial" panose="020B0604020202020204" pitchFamily="34" charset="0"/>
                <a:sym typeface="Calibri"/>
              </a:rPr>
              <a:t>T</a:t>
            </a:r>
            <a:r>
              <a:rPr lang="en-US" sz="3200" dirty="0">
                <a:solidFill>
                  <a:srgbClr val="000000"/>
                </a:solidFill>
                <a:latin typeface="Arial" panose="020B0604020202020204" pitchFamily="34" charset="0"/>
                <a:ea typeface="+mn-ea"/>
                <a:cs typeface="Arial" panose="020B0604020202020204" pitchFamily="34" charset="0"/>
                <a:sym typeface="Calibri"/>
              </a:rPr>
              <a:t>ransformer that given the rhythm generates the drums performance </a:t>
            </a:r>
            <a:r>
              <a:rPr lang="en-US" sz="3200" b="1" dirty="0">
                <a:solidFill>
                  <a:srgbClr val="000000"/>
                </a:solidFill>
                <a:latin typeface="Arial" panose="020B0604020202020204" pitchFamily="34" charset="0"/>
                <a:ea typeface="+mn-ea"/>
                <a:cs typeface="Arial" panose="020B0604020202020204" pitchFamily="34" charset="0"/>
                <a:sym typeface="Calibri"/>
              </a:rPr>
              <a:t>Hits (onsets). </a:t>
            </a:r>
            <a:r>
              <a:rPr lang="en-US" sz="3200" dirty="0">
                <a:solidFill>
                  <a:srgbClr val="000000"/>
                </a:solidFill>
                <a:latin typeface="Arial" panose="020B0604020202020204" pitchFamily="34" charset="0"/>
                <a:ea typeface="+mn-ea"/>
                <a:cs typeface="Arial" panose="020B0604020202020204" pitchFamily="34" charset="0"/>
                <a:sym typeface="Calibri"/>
              </a:rPr>
              <a:t>The</a:t>
            </a:r>
            <a:r>
              <a:rPr lang="en-US" sz="3200" b="1" dirty="0">
                <a:solidFill>
                  <a:srgbClr val="000000"/>
                </a:solidFill>
                <a:latin typeface="Arial" panose="020B0604020202020204" pitchFamily="34" charset="0"/>
                <a:ea typeface="+mn-ea"/>
                <a:cs typeface="Arial" panose="020B0604020202020204" pitchFamily="34" charset="0"/>
                <a:sym typeface="Calibri"/>
              </a:rPr>
              <a:t> </a:t>
            </a:r>
            <a:r>
              <a:rPr lang="en-US" altLang="zh-CN" sz="3200" dirty="0">
                <a:solidFill>
                  <a:srgbClr val="000000"/>
                </a:solidFill>
                <a:latin typeface="Arial" panose="020B0604020202020204" pitchFamily="34" charset="0"/>
                <a:ea typeface="+mn-ea"/>
                <a:cs typeface="Arial" panose="020B0604020202020204" pitchFamily="34" charset="0"/>
              </a:rPr>
              <a:t>T</a:t>
            </a:r>
            <a:r>
              <a:rPr lang="en-US" sz="3200" dirty="0">
                <a:solidFill>
                  <a:srgbClr val="000000"/>
                </a:solidFill>
                <a:latin typeface="Arial" panose="020B0604020202020204" pitchFamily="34" charset="0"/>
                <a:ea typeface="+mn-ea"/>
                <a:cs typeface="Arial" panose="020B0604020202020204" pitchFamily="34" charset="0"/>
              </a:rPr>
              <a:t>ransformer generates</a:t>
            </a:r>
            <a:r>
              <a:rPr lang="zh-CN" altLang="en-US" sz="3200" dirty="0">
                <a:solidFill>
                  <a:srgbClr val="000000"/>
                </a:solidFill>
                <a:latin typeface="Arial" panose="020B0604020202020204" pitchFamily="34" charset="0"/>
                <a:ea typeface="+mn-ea"/>
                <a:cs typeface="Arial" panose="020B0604020202020204" pitchFamily="34" charset="0"/>
              </a:rPr>
              <a:t> </a:t>
            </a:r>
            <a:r>
              <a:rPr lang="en-US" altLang="zh-CN" sz="3200" dirty="0">
                <a:solidFill>
                  <a:srgbClr val="000000"/>
                </a:solidFill>
                <a:latin typeface="Arial" panose="020B0604020202020204" pitchFamily="34" charset="0"/>
                <a:ea typeface="+mn-ea"/>
                <a:cs typeface="Arial" panose="020B0604020202020204" pitchFamily="34" charset="0"/>
              </a:rPr>
              <a:t>natural</a:t>
            </a:r>
            <a:r>
              <a:rPr lang="zh-CN" altLang="en-US" sz="3200" dirty="0">
                <a:solidFill>
                  <a:srgbClr val="000000"/>
                </a:solidFill>
                <a:latin typeface="Arial" panose="020B0604020202020204" pitchFamily="34" charset="0"/>
                <a:ea typeface="+mn-ea"/>
                <a:cs typeface="Arial" panose="020B0604020202020204" pitchFamily="34" charset="0"/>
              </a:rPr>
              <a:t> </a:t>
            </a:r>
            <a:r>
              <a:rPr lang="en-US" altLang="zh-CN" sz="3200" dirty="0">
                <a:solidFill>
                  <a:srgbClr val="000000"/>
                </a:solidFill>
                <a:latin typeface="Arial" panose="020B0604020202020204" pitchFamily="34" charset="0"/>
                <a:ea typeface="+mn-ea"/>
                <a:cs typeface="Arial" panose="020B0604020202020204" pitchFamily="34" charset="0"/>
              </a:rPr>
              <a:t>and</a:t>
            </a:r>
            <a:r>
              <a:rPr lang="zh-CN" altLang="en-US" sz="3200" dirty="0">
                <a:solidFill>
                  <a:srgbClr val="000000"/>
                </a:solidFill>
                <a:latin typeface="Arial" panose="020B0604020202020204" pitchFamily="34" charset="0"/>
                <a:ea typeface="+mn-ea"/>
                <a:cs typeface="Arial" panose="020B0604020202020204" pitchFamily="34" charset="0"/>
              </a:rPr>
              <a:t> </a:t>
            </a:r>
            <a:r>
              <a:rPr lang="en-US" altLang="zh-CN" sz="3200" dirty="0">
                <a:solidFill>
                  <a:srgbClr val="000000"/>
                </a:solidFill>
                <a:latin typeface="Arial" panose="020B0604020202020204" pitchFamily="34" charset="0"/>
                <a:ea typeface="+mn-ea"/>
                <a:cs typeface="Arial" panose="020B0604020202020204" pitchFamily="34" charset="0"/>
              </a:rPr>
              <a:t>diverse</a:t>
            </a:r>
            <a:r>
              <a:rPr lang="en-US" sz="3200" dirty="0">
                <a:solidFill>
                  <a:srgbClr val="000000"/>
                </a:solidFill>
                <a:latin typeface="Arial" panose="020B0604020202020204" pitchFamily="34" charset="0"/>
                <a:ea typeface="+mn-ea"/>
                <a:cs typeface="Arial" panose="020B0604020202020204" pitchFamily="34" charset="0"/>
              </a:rPr>
              <a:t> drum onsets</a:t>
            </a:r>
            <a:r>
              <a:rPr lang="zh-CN" altLang="en-US" sz="3200" dirty="0">
                <a:solidFill>
                  <a:srgbClr val="000000"/>
                </a:solidFill>
                <a:latin typeface="Arial" panose="020B0604020202020204" pitchFamily="34" charset="0"/>
                <a:ea typeface="+mn-ea"/>
                <a:cs typeface="Arial" panose="020B0604020202020204" pitchFamily="34" charset="0"/>
              </a:rPr>
              <a:t> </a:t>
            </a:r>
            <a:r>
              <a:rPr lang="en-US" altLang="zh-CN" sz="3200" dirty="0">
                <a:solidFill>
                  <a:srgbClr val="000000"/>
                </a:solidFill>
                <a:latin typeface="Arial" panose="020B0604020202020204" pitchFamily="34" charset="0"/>
                <a:ea typeface="+mn-ea"/>
                <a:cs typeface="Arial" panose="020B0604020202020204" pitchFamily="34" charset="0"/>
              </a:rPr>
              <a:t>by</a:t>
            </a:r>
            <a:r>
              <a:rPr lang="zh-CN" altLang="en-US" sz="3200" dirty="0">
                <a:solidFill>
                  <a:srgbClr val="000000"/>
                </a:solidFill>
                <a:latin typeface="Arial" panose="020B0604020202020204" pitchFamily="34" charset="0"/>
                <a:ea typeface="+mn-ea"/>
                <a:cs typeface="Arial" panose="020B0604020202020204" pitchFamily="34" charset="0"/>
              </a:rPr>
              <a:t> </a:t>
            </a:r>
            <a:r>
              <a:rPr lang="en-US" altLang="zh-CN" sz="3200" dirty="0">
                <a:solidFill>
                  <a:srgbClr val="000000"/>
                </a:solidFill>
                <a:latin typeface="Arial" panose="020B0604020202020204" pitchFamily="34" charset="0"/>
                <a:ea typeface="+mn-ea"/>
                <a:cs typeface="Arial" panose="020B0604020202020204" pitchFamily="34" charset="0"/>
              </a:rPr>
              <a:t>a</a:t>
            </a:r>
            <a:r>
              <a:rPr lang="en-US" sz="3200" dirty="0">
                <a:solidFill>
                  <a:srgbClr val="000000"/>
                </a:solidFill>
                <a:latin typeface="Arial" panose="020B0604020202020204" pitchFamily="34" charset="0"/>
                <a:ea typeface="+mn-ea"/>
                <a:cs typeface="Arial" panose="020B0604020202020204" pitchFamily="34" charset="0"/>
              </a:rPr>
              <a:t>utoregressively learning the hits as a word sequence</a:t>
            </a:r>
            <a:r>
              <a:rPr lang="zh-CN" altLang="en-US" sz="3200" dirty="0">
                <a:solidFill>
                  <a:srgbClr val="000000"/>
                </a:solidFill>
                <a:latin typeface="Arial" panose="020B0604020202020204" pitchFamily="34" charset="0"/>
                <a:ea typeface="+mn-ea"/>
                <a:cs typeface="Arial" panose="020B0604020202020204" pitchFamily="34" charset="0"/>
              </a:rPr>
              <a:t> </a:t>
            </a:r>
            <a:r>
              <a:rPr lang="en-US" altLang="zh-CN" sz="3200" dirty="0">
                <a:solidFill>
                  <a:srgbClr val="000000"/>
                </a:solidFill>
                <a:latin typeface="Arial" panose="020B0604020202020204" pitchFamily="34" charset="0"/>
                <a:ea typeface="+mn-ea"/>
                <a:cs typeface="Arial" panose="020B0604020202020204" pitchFamily="34" charset="0"/>
              </a:rPr>
              <a:t>conditioned</a:t>
            </a:r>
            <a:r>
              <a:rPr lang="zh-CN" altLang="en-US" sz="3200" dirty="0">
                <a:solidFill>
                  <a:srgbClr val="000000"/>
                </a:solidFill>
                <a:latin typeface="Arial" panose="020B0604020202020204" pitchFamily="34" charset="0"/>
                <a:ea typeface="+mn-ea"/>
                <a:cs typeface="Arial" panose="020B0604020202020204" pitchFamily="34" charset="0"/>
              </a:rPr>
              <a:t> </a:t>
            </a:r>
            <a:r>
              <a:rPr lang="en-US" altLang="zh-CN" sz="3200" dirty="0">
                <a:solidFill>
                  <a:srgbClr val="000000"/>
                </a:solidFill>
                <a:latin typeface="Arial" panose="020B0604020202020204" pitchFamily="34" charset="0"/>
                <a:ea typeface="+mn-ea"/>
                <a:cs typeface="Arial" panose="020B0604020202020204" pitchFamily="34" charset="0"/>
              </a:rPr>
              <a:t>on</a:t>
            </a:r>
            <a:r>
              <a:rPr lang="zh-CN" altLang="en-US" sz="3200" dirty="0">
                <a:solidFill>
                  <a:srgbClr val="000000"/>
                </a:solidFill>
                <a:latin typeface="Arial" panose="020B0604020202020204" pitchFamily="34" charset="0"/>
                <a:ea typeface="+mn-ea"/>
                <a:cs typeface="Arial" panose="020B0604020202020204" pitchFamily="34" charset="0"/>
              </a:rPr>
              <a:t> </a:t>
            </a:r>
            <a:r>
              <a:rPr lang="en-US" altLang="zh-CN" sz="3200" dirty="0">
                <a:solidFill>
                  <a:srgbClr val="000000"/>
                </a:solidFill>
                <a:latin typeface="Arial" panose="020B0604020202020204" pitchFamily="34" charset="0"/>
                <a:ea typeface="+mn-ea"/>
                <a:cs typeface="Arial" panose="020B0604020202020204" pitchFamily="34" charset="0"/>
              </a:rPr>
              <a:t>the rhythm</a:t>
            </a:r>
            <a:r>
              <a:rPr lang="en-US" sz="3200" dirty="0">
                <a:solidFill>
                  <a:srgbClr val="000000"/>
                </a:solidFill>
                <a:latin typeface="Arial" panose="020B0604020202020204" pitchFamily="34" charset="0"/>
                <a:ea typeface="+mn-ea"/>
                <a:cs typeface="Arial" panose="020B0604020202020204" pitchFamily="34" charset="0"/>
              </a:rPr>
              <a:t>.</a:t>
            </a:r>
          </a:p>
          <a:p>
            <a:pPr>
              <a:lnSpc>
                <a:spcPct val="100000"/>
              </a:lnSpc>
            </a:pPr>
            <a:endParaRPr lang="en-US" sz="3200" b="1" dirty="0">
              <a:solidFill>
                <a:srgbClr val="000000"/>
              </a:solidFill>
              <a:latin typeface="Arial" panose="020B0604020202020204" pitchFamily="34" charset="0"/>
              <a:ea typeface="+mn-ea"/>
              <a:cs typeface="Arial" panose="020B0604020202020204" pitchFamily="34" charset="0"/>
              <a:sym typeface="Calibri"/>
            </a:endParaRPr>
          </a:p>
        </p:txBody>
      </p:sp>
      <p:sp>
        <p:nvSpPr>
          <p:cNvPr id="39" name="TextBox 45"/>
          <p:cNvSpPr txBox="1"/>
          <p:nvPr/>
        </p:nvSpPr>
        <p:spPr>
          <a:xfrm>
            <a:off x="496183" y="8661560"/>
            <a:ext cx="9064534"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400">
                <a:latin typeface="Arial"/>
                <a:ea typeface="Arial"/>
                <a:cs typeface="Arial"/>
                <a:sym typeface="Arial"/>
              </a:defRPr>
            </a:lvl1pPr>
          </a:lstStyle>
          <a:p>
            <a:r>
              <a:rPr lang="en-US" sz="3600" b="1" i="1" dirty="0" err="1"/>
              <a:t>RhythmicNet</a:t>
            </a:r>
            <a:r>
              <a:rPr lang="en-US" sz="3600" b="1" i="1" dirty="0"/>
              <a:t> Components:</a:t>
            </a:r>
            <a:r>
              <a:rPr lang="en-US" sz="3600" b="1" dirty="0"/>
              <a:t> </a:t>
            </a:r>
            <a:endParaRPr sz="3600" b="1" dirty="0"/>
          </a:p>
        </p:txBody>
      </p:sp>
      <p:sp>
        <p:nvSpPr>
          <p:cNvPr id="41" name="TextBox 47"/>
          <p:cNvSpPr txBox="1"/>
          <p:nvPr/>
        </p:nvSpPr>
        <p:spPr>
          <a:xfrm>
            <a:off x="496183" y="9449250"/>
            <a:ext cx="10170211" cy="18108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120000"/>
              </a:lnSpc>
              <a:defRPr sz="2100">
                <a:solidFill>
                  <a:srgbClr val="344854"/>
                </a:solidFill>
                <a:latin typeface="Arial"/>
                <a:ea typeface="Arial"/>
                <a:cs typeface="Arial"/>
                <a:sym typeface="Arial"/>
              </a:defRPr>
            </a:lvl1pPr>
          </a:lstStyle>
          <a:p>
            <a:pPr marL="457200" indent="-457200">
              <a:buFont typeface="+mj-lt"/>
              <a:buAutoNum type="arabicPeriod"/>
            </a:pPr>
            <a:r>
              <a:rPr lang="en-US" sz="3200" b="1" dirty="0">
                <a:solidFill>
                  <a:schemeClr val="accent2"/>
                </a:solidFill>
                <a:latin typeface="Arial" panose="020B0604020202020204" pitchFamily="34" charset="0"/>
                <a:ea typeface="+mn-ea"/>
                <a:cs typeface="Arial" panose="020B0604020202020204" pitchFamily="34" charset="0"/>
                <a:sym typeface="Calibri"/>
              </a:rPr>
              <a:t>Video2Rhythm</a:t>
            </a:r>
            <a:r>
              <a:rPr lang="en-US" sz="3200" dirty="0">
                <a:solidFill>
                  <a:srgbClr val="7030A0"/>
                </a:solidFill>
                <a:latin typeface="Arial" panose="020B0604020202020204" pitchFamily="34" charset="0"/>
                <a:ea typeface="+mn-ea"/>
                <a:cs typeface="Arial" panose="020B0604020202020204" pitchFamily="34" charset="0"/>
                <a:sym typeface="Calibri"/>
              </a:rPr>
              <a:t>: </a:t>
            </a:r>
            <a:r>
              <a:rPr lang="en-US" sz="3200" dirty="0">
                <a:solidFill>
                  <a:srgbClr val="000000"/>
                </a:solidFill>
                <a:latin typeface="Arial" panose="020B0604020202020204" pitchFamily="34" charset="0"/>
                <a:ea typeface="+mn-ea"/>
                <a:cs typeface="Arial" panose="020B0604020202020204" pitchFamily="34" charset="0"/>
                <a:sym typeface="Calibri"/>
              </a:rPr>
              <a:t>Inferring rhythm from human activity</a:t>
            </a:r>
          </a:p>
          <a:p>
            <a:pPr marL="457200" indent="-457200">
              <a:buFont typeface="+mj-lt"/>
              <a:buAutoNum type="arabicPeriod"/>
            </a:pPr>
            <a:r>
              <a:rPr lang="en-US" sz="3200" b="1" dirty="0">
                <a:solidFill>
                  <a:schemeClr val="accent6"/>
                </a:solidFill>
                <a:latin typeface="Arial" panose="020B0604020202020204" pitchFamily="34" charset="0"/>
                <a:ea typeface="+mn-ea"/>
                <a:cs typeface="Arial" panose="020B0604020202020204" pitchFamily="34" charset="0"/>
                <a:sym typeface="Calibri"/>
              </a:rPr>
              <a:t>Rhythm2Drum</a:t>
            </a:r>
            <a:r>
              <a:rPr lang="en-US" sz="3200" dirty="0">
                <a:solidFill>
                  <a:schemeClr val="accent6">
                    <a:lumMod val="75000"/>
                  </a:schemeClr>
                </a:solidFill>
                <a:latin typeface="Arial" panose="020B0604020202020204" pitchFamily="34" charset="0"/>
                <a:ea typeface="+mn-ea"/>
                <a:cs typeface="Arial" panose="020B0604020202020204" pitchFamily="34" charset="0"/>
                <a:sym typeface="Calibri"/>
              </a:rPr>
              <a:t>: </a:t>
            </a:r>
            <a:r>
              <a:rPr lang="en-US" sz="3200" dirty="0">
                <a:solidFill>
                  <a:srgbClr val="000000"/>
                </a:solidFill>
                <a:latin typeface="Arial" panose="020B0604020202020204" pitchFamily="34" charset="0"/>
                <a:ea typeface="+mn-ea"/>
                <a:cs typeface="Arial" panose="020B0604020202020204" pitchFamily="34" charset="0"/>
                <a:sym typeface="Calibri"/>
              </a:rPr>
              <a:t>Translating rhythm to drum music</a:t>
            </a:r>
          </a:p>
          <a:p>
            <a:pPr marL="457200" indent="-457200">
              <a:buFont typeface="+mj-lt"/>
              <a:buAutoNum type="arabicPeriod"/>
            </a:pPr>
            <a:r>
              <a:rPr lang="en-US" sz="3200" b="1" dirty="0">
                <a:solidFill>
                  <a:srgbClr val="FFC000"/>
                </a:solidFill>
                <a:latin typeface="Arial" panose="020B0604020202020204" pitchFamily="34" charset="0"/>
                <a:ea typeface="+mn-ea"/>
                <a:cs typeface="Arial" panose="020B0604020202020204" pitchFamily="34" charset="0"/>
                <a:sym typeface="Calibri"/>
              </a:rPr>
              <a:t>Drum2Music</a:t>
            </a:r>
            <a:r>
              <a:rPr lang="en-US" sz="3200" b="1" dirty="0">
                <a:solidFill>
                  <a:schemeClr val="accent4"/>
                </a:solidFill>
                <a:latin typeface="Arial" panose="020B0604020202020204" pitchFamily="34" charset="0"/>
                <a:ea typeface="+mn-ea"/>
                <a:cs typeface="Arial" panose="020B0604020202020204" pitchFamily="34" charset="0"/>
                <a:sym typeface="Calibri"/>
              </a:rPr>
              <a:t>: </a:t>
            </a:r>
            <a:r>
              <a:rPr lang="en-US" sz="3200" dirty="0">
                <a:solidFill>
                  <a:schemeClr val="tx1"/>
                </a:solidFill>
                <a:latin typeface="Arial" panose="020B0604020202020204" pitchFamily="34" charset="0"/>
                <a:ea typeface="+mn-ea"/>
                <a:cs typeface="Arial" panose="020B0604020202020204" pitchFamily="34" charset="0"/>
                <a:sym typeface="Calibri"/>
              </a:rPr>
              <a:t>Adding piano/guitar track</a:t>
            </a:r>
          </a:p>
        </p:txBody>
      </p:sp>
      <p:sp>
        <p:nvSpPr>
          <p:cNvPr id="42" name="TextBox 51"/>
          <p:cNvSpPr txBox="1"/>
          <p:nvPr/>
        </p:nvSpPr>
        <p:spPr>
          <a:xfrm>
            <a:off x="20871806" y="8706438"/>
            <a:ext cx="9029701" cy="615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400">
                <a:latin typeface="Arial"/>
                <a:ea typeface="Arial"/>
                <a:cs typeface="Arial"/>
                <a:sym typeface="Arial"/>
              </a:defRPr>
            </a:lvl1pPr>
          </a:lstStyle>
          <a:p>
            <a:r>
              <a:rPr lang="en-US" b="1" dirty="0"/>
              <a:t>Evaluations &amp; Results</a:t>
            </a:r>
            <a:endParaRPr b="1" dirty="0"/>
          </a:p>
        </p:txBody>
      </p:sp>
      <p:sp>
        <p:nvSpPr>
          <p:cNvPr id="43" name="TextBox 52"/>
          <p:cNvSpPr txBox="1"/>
          <p:nvPr/>
        </p:nvSpPr>
        <p:spPr>
          <a:xfrm>
            <a:off x="21739486" y="11328405"/>
            <a:ext cx="9029701" cy="5847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sz="2100">
                <a:latin typeface="Arial"/>
                <a:ea typeface="Arial"/>
                <a:cs typeface="Arial"/>
                <a:sym typeface="Arial"/>
              </a:defRPr>
            </a:lvl1pPr>
          </a:lstStyle>
          <a:p>
            <a:pPr algn="ctr"/>
            <a:r>
              <a:rPr lang="en-US" sz="3200" b="1" dirty="0"/>
              <a:t>Preference</a:t>
            </a:r>
            <a:endParaRPr sz="3200" b="1" dirty="0"/>
          </a:p>
        </p:txBody>
      </p:sp>
      <p:sp>
        <p:nvSpPr>
          <p:cNvPr id="50" name="TextBox 37"/>
          <p:cNvSpPr txBox="1"/>
          <p:nvPr/>
        </p:nvSpPr>
        <p:spPr>
          <a:xfrm>
            <a:off x="1038670" y="1248954"/>
            <a:ext cx="18141497" cy="142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nSpc>
                <a:spcPct val="120000"/>
              </a:lnSpc>
              <a:spcBef>
                <a:spcPts val="1000"/>
              </a:spcBef>
              <a:defRPr sz="2100">
                <a:latin typeface="Arial"/>
                <a:ea typeface="Arial"/>
                <a:cs typeface="Arial"/>
                <a:sym typeface="Arial"/>
              </a:defRPr>
            </a:pPr>
            <a:r>
              <a:rPr lang="en-US" sz="3600" dirty="0" err="1"/>
              <a:t>Kun</a:t>
            </a:r>
            <a:r>
              <a:rPr lang="en-US" sz="3600" dirty="0"/>
              <a:t> Su</a:t>
            </a:r>
            <a:r>
              <a:rPr lang="en-US" sz="3600" baseline="30000" dirty="0"/>
              <a:t>1*</a:t>
            </a:r>
            <a:r>
              <a:rPr sz="3600" dirty="0"/>
              <a:t>, </a:t>
            </a:r>
            <a:r>
              <a:rPr lang="en-US" sz="3600" dirty="0" err="1"/>
              <a:t>Xiulong</a:t>
            </a:r>
            <a:r>
              <a:rPr lang="en-US" sz="3600" dirty="0"/>
              <a:t> Liu</a:t>
            </a:r>
            <a:r>
              <a:rPr lang="en-US" sz="3600" baseline="30000" dirty="0"/>
              <a:t>1*</a:t>
            </a:r>
            <a:r>
              <a:rPr sz="3600" dirty="0"/>
              <a:t>, </a:t>
            </a:r>
            <a:r>
              <a:rPr lang="en-US" sz="3600" dirty="0"/>
              <a:t>Eli Shlizerman</a:t>
            </a:r>
            <a:r>
              <a:rPr lang="en-US" sz="3600" baseline="30000" dirty="0"/>
              <a:t>1,2   																			</a:t>
            </a:r>
            <a:r>
              <a:rPr lang="en-US" sz="3200" dirty="0">
                <a:latin typeface="Arial"/>
                <a:cs typeface="Arial"/>
              </a:rPr>
              <a:t>*Equal Contribution</a:t>
            </a:r>
          </a:p>
          <a:p>
            <a:pPr>
              <a:lnSpc>
                <a:spcPct val="120000"/>
              </a:lnSpc>
              <a:spcBef>
                <a:spcPts val="1000"/>
              </a:spcBef>
              <a:defRPr sz="2100">
                <a:latin typeface="Arial"/>
                <a:ea typeface="Arial"/>
                <a:cs typeface="Arial"/>
                <a:sym typeface="Arial"/>
              </a:defRPr>
            </a:pPr>
            <a:r>
              <a:rPr lang="en-US" sz="3200" baseline="30000" dirty="0"/>
              <a:t>1 </a:t>
            </a:r>
            <a:r>
              <a:rPr lang="en-US" sz="3200" dirty="0"/>
              <a:t>Electrical &amp; Computer Engineering, </a:t>
            </a:r>
            <a:r>
              <a:rPr lang="en-US" sz="3200" baseline="30000" dirty="0"/>
              <a:t>2</a:t>
            </a:r>
            <a:r>
              <a:rPr lang="en-US" sz="3200" dirty="0"/>
              <a:t> Applied Mathematics, University of Washington, Seattle, USA </a:t>
            </a:r>
          </a:p>
        </p:txBody>
      </p:sp>
      <p:pic>
        <p:nvPicPr>
          <p:cNvPr id="54" name="neurips_logo.pdf" descr="neurips_logo.pdf"/>
          <p:cNvPicPr>
            <a:picLocks noChangeAspect="1"/>
          </p:cNvPicPr>
          <p:nvPr/>
        </p:nvPicPr>
        <p:blipFill>
          <a:blip r:embed="rId4"/>
          <a:stretch>
            <a:fillRect/>
          </a:stretch>
        </p:blipFill>
        <p:spPr>
          <a:xfrm>
            <a:off x="27332527" y="74009"/>
            <a:ext cx="4797779" cy="2159001"/>
          </a:xfrm>
          <a:prstGeom prst="rect">
            <a:avLst/>
          </a:prstGeom>
          <a:ln w="12700">
            <a:miter lim="400000"/>
          </a:ln>
        </p:spPr>
      </p:pic>
      <p:sp>
        <p:nvSpPr>
          <p:cNvPr id="4" name="TextBox 45">
            <a:extLst>
              <a:ext uri="{FF2B5EF4-FFF2-40B4-BE49-F238E27FC236}">
                <a16:creationId xmlns:a16="http://schemas.microsoft.com/office/drawing/2014/main" id="{6BD47915-C3C8-4746-87DD-DD25F024FF6E}"/>
              </a:ext>
            </a:extLst>
          </p:cNvPr>
          <p:cNvSpPr txBox="1"/>
          <p:nvPr/>
        </p:nvSpPr>
        <p:spPr>
          <a:xfrm>
            <a:off x="3522633" y="11461322"/>
            <a:ext cx="4639060"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sz="3400">
                <a:latin typeface="Arial"/>
                <a:ea typeface="Arial"/>
                <a:cs typeface="Arial"/>
                <a:sym typeface="Arial"/>
              </a:defRPr>
            </a:lvl1pPr>
          </a:lstStyle>
          <a:p>
            <a:r>
              <a:rPr lang="en-US" sz="4400" b="1" dirty="0">
                <a:ln w="6600">
                  <a:noFill/>
                  <a:prstDash val="solid"/>
                </a:ln>
                <a:solidFill>
                  <a:schemeClr val="accent2">
                    <a:lumMod val="75000"/>
                  </a:schemeClr>
                </a:solidFill>
              </a:rPr>
              <a:t>Video2Rhythm</a:t>
            </a:r>
            <a:endParaRPr sz="4400" b="1" dirty="0">
              <a:ln w="6600">
                <a:noFill/>
                <a:prstDash val="solid"/>
              </a:ln>
              <a:solidFill>
                <a:schemeClr val="accent2">
                  <a:lumMod val="75000"/>
                </a:schemeClr>
              </a:solidFill>
            </a:endParaRPr>
          </a:p>
        </p:txBody>
      </p:sp>
      <p:sp>
        <p:nvSpPr>
          <p:cNvPr id="6" name="TextBox 45">
            <a:extLst>
              <a:ext uri="{FF2B5EF4-FFF2-40B4-BE49-F238E27FC236}">
                <a16:creationId xmlns:a16="http://schemas.microsoft.com/office/drawing/2014/main" id="{BF305E3C-BA17-4FD1-B4E5-44FA373C9203}"/>
              </a:ext>
            </a:extLst>
          </p:cNvPr>
          <p:cNvSpPr txBox="1"/>
          <p:nvPr/>
        </p:nvSpPr>
        <p:spPr>
          <a:xfrm>
            <a:off x="13528127" y="9980274"/>
            <a:ext cx="4028353" cy="769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3400">
                <a:latin typeface="Arial"/>
                <a:ea typeface="Arial"/>
                <a:cs typeface="Arial"/>
                <a:sym typeface="Arial"/>
              </a:defRPr>
            </a:lvl1pPr>
          </a:lstStyle>
          <a:p>
            <a:r>
              <a:rPr lang="en-US" sz="4400" b="1" dirty="0">
                <a:solidFill>
                  <a:schemeClr val="accent6"/>
                </a:solidFill>
              </a:rPr>
              <a:t>Rhythm2Drum</a:t>
            </a:r>
            <a:endParaRPr sz="4400" b="1" dirty="0">
              <a:solidFill>
                <a:schemeClr val="accent6"/>
              </a:solidFill>
            </a:endParaRPr>
          </a:p>
        </p:txBody>
      </p:sp>
      <p:sp>
        <p:nvSpPr>
          <p:cNvPr id="11" name="TextBox 47">
            <a:extLst>
              <a:ext uri="{FF2B5EF4-FFF2-40B4-BE49-F238E27FC236}">
                <a16:creationId xmlns:a16="http://schemas.microsoft.com/office/drawing/2014/main" id="{59100C3D-5A16-468E-A806-F0A8B617D3AD}"/>
              </a:ext>
            </a:extLst>
          </p:cNvPr>
          <p:cNvSpPr txBox="1"/>
          <p:nvPr/>
        </p:nvSpPr>
        <p:spPr>
          <a:xfrm>
            <a:off x="20895152" y="3028886"/>
            <a:ext cx="10504595" cy="20621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120000"/>
              </a:lnSpc>
              <a:defRPr sz="2100">
                <a:solidFill>
                  <a:srgbClr val="344854"/>
                </a:solidFill>
                <a:latin typeface="Arial"/>
                <a:ea typeface="Arial"/>
                <a:cs typeface="Arial"/>
                <a:sym typeface="Arial"/>
              </a:defRPr>
            </a:lvl1pPr>
          </a:lstStyle>
          <a:p>
            <a:pPr>
              <a:lnSpc>
                <a:spcPct val="100000"/>
              </a:lnSpc>
            </a:pPr>
            <a:r>
              <a:rPr lang="en-US" sz="3200" b="0" i="0" dirty="0">
                <a:solidFill>
                  <a:srgbClr val="000000"/>
                </a:solidFill>
                <a:effectLst/>
                <a:latin typeface="Arial" panose="020B0604020202020204" pitchFamily="34" charset="0"/>
                <a:cs typeface="Arial" panose="020B0604020202020204" pitchFamily="34" charset="0"/>
              </a:rPr>
              <a:t>Drum2Music</a:t>
            </a:r>
            <a:r>
              <a:rPr lang="zh-CN" altLang="en-US" sz="3200" b="0" i="0" dirty="0">
                <a:solidFill>
                  <a:srgbClr val="000000"/>
                </a:solidFill>
                <a:effectLst/>
                <a:latin typeface="Arial" panose="020B0604020202020204" pitchFamily="34" charset="0"/>
                <a:cs typeface="Arial" panose="020B0604020202020204" pitchFamily="34" charset="0"/>
              </a:rPr>
              <a:t> </a:t>
            </a:r>
            <a:r>
              <a:rPr lang="en-US" sz="3200" b="0" i="0" dirty="0">
                <a:solidFill>
                  <a:srgbClr val="000000"/>
                </a:solidFill>
                <a:effectLst/>
                <a:latin typeface="Arial" panose="020B0604020202020204" pitchFamily="34" charset="0"/>
                <a:cs typeface="Arial" panose="020B0604020202020204" pitchFamily="34" charset="0"/>
              </a:rPr>
              <a:t>complete</a:t>
            </a:r>
            <a:r>
              <a:rPr lang="en-US" altLang="zh-CN" sz="3200" b="0" i="0" dirty="0">
                <a:solidFill>
                  <a:srgbClr val="000000"/>
                </a:solidFill>
                <a:effectLst/>
                <a:latin typeface="Arial" panose="020B0604020202020204" pitchFamily="34" charset="0"/>
                <a:cs typeface="Arial" panose="020B0604020202020204" pitchFamily="34" charset="0"/>
              </a:rPr>
              <a:t>s</a:t>
            </a:r>
            <a:r>
              <a:rPr lang="en-US" sz="3200" b="0" i="0" dirty="0">
                <a:solidFill>
                  <a:srgbClr val="000000"/>
                </a:solidFill>
                <a:effectLst/>
                <a:latin typeface="Arial" panose="020B0604020202020204" pitchFamily="34" charset="0"/>
                <a:cs typeface="Arial" panose="020B0604020202020204" pitchFamily="34" charset="0"/>
              </a:rPr>
              <a:t> the drum music by adopting an </a:t>
            </a:r>
            <a:r>
              <a:rPr lang="en-US" altLang="zh-CN" sz="3200" b="1" i="0" dirty="0">
                <a:solidFill>
                  <a:srgbClr val="000000"/>
                </a:solidFill>
                <a:effectLst/>
                <a:latin typeface="Arial" panose="020B0604020202020204" pitchFamily="34" charset="0"/>
                <a:cs typeface="Arial" panose="020B0604020202020204" pitchFamily="34" charset="0"/>
              </a:rPr>
              <a:t>E</a:t>
            </a:r>
            <a:r>
              <a:rPr lang="en-US" sz="3200" b="0" i="0" dirty="0">
                <a:solidFill>
                  <a:srgbClr val="000000"/>
                </a:solidFill>
                <a:effectLst/>
                <a:latin typeface="Arial" panose="020B0604020202020204" pitchFamily="34" charset="0"/>
                <a:cs typeface="Arial" panose="020B0604020202020204" pitchFamily="34" charset="0"/>
              </a:rPr>
              <a:t>ncoder-</a:t>
            </a:r>
            <a:r>
              <a:rPr lang="en-US" altLang="zh-CN" sz="3200" b="1" i="0" dirty="0">
                <a:solidFill>
                  <a:srgbClr val="000000"/>
                </a:solidFill>
                <a:effectLst/>
                <a:latin typeface="Arial" panose="020B0604020202020204" pitchFamily="34" charset="0"/>
                <a:cs typeface="Arial" panose="020B0604020202020204" pitchFamily="34" charset="0"/>
              </a:rPr>
              <a:t>D</a:t>
            </a:r>
            <a:r>
              <a:rPr lang="en-US" sz="3200" b="0" i="0" dirty="0">
                <a:solidFill>
                  <a:srgbClr val="000000"/>
                </a:solidFill>
                <a:effectLst/>
                <a:latin typeface="Arial" panose="020B0604020202020204" pitchFamily="34" charset="0"/>
                <a:cs typeface="Arial" panose="020B0604020202020204" pitchFamily="34" charset="0"/>
              </a:rPr>
              <a:t>ecoder architecture using transformer-</a:t>
            </a:r>
            <a:r>
              <a:rPr lang="en-US" sz="3200" b="1" i="0" dirty="0">
                <a:solidFill>
                  <a:srgbClr val="000000"/>
                </a:solidFill>
                <a:effectLst/>
                <a:latin typeface="Arial" panose="020B0604020202020204" pitchFamily="34" charset="0"/>
                <a:cs typeface="Arial" panose="020B0604020202020204" pitchFamily="34" charset="0"/>
              </a:rPr>
              <a:t>XL</a:t>
            </a:r>
            <a:r>
              <a:rPr lang="en-US" sz="3200" b="0" i="0" dirty="0">
                <a:solidFill>
                  <a:srgbClr val="000000"/>
                </a:solidFill>
                <a:effectLst/>
                <a:latin typeface="Arial" panose="020B0604020202020204" pitchFamily="34" charset="0"/>
                <a:cs typeface="Arial" panose="020B0604020202020204" pitchFamily="34" charset="0"/>
              </a:rPr>
              <a:t> to generate a music track of either piano or guitar conditioning on the generated drum performance.</a:t>
            </a:r>
            <a:endParaRPr lang="en-US" sz="3200" dirty="0">
              <a:latin typeface="Arial" panose="020B0604020202020204" pitchFamily="34" charset="0"/>
              <a:cs typeface="Arial" panose="020B0604020202020204" pitchFamily="34" charset="0"/>
            </a:endParaRPr>
          </a:p>
        </p:txBody>
      </p:sp>
      <p:sp>
        <p:nvSpPr>
          <p:cNvPr id="12" name="TextBox 45">
            <a:extLst>
              <a:ext uri="{FF2B5EF4-FFF2-40B4-BE49-F238E27FC236}">
                <a16:creationId xmlns:a16="http://schemas.microsoft.com/office/drawing/2014/main" id="{D73F1273-9746-4E19-868D-4B5FF602D3AC}"/>
              </a:ext>
            </a:extLst>
          </p:cNvPr>
          <p:cNvSpPr txBox="1"/>
          <p:nvPr/>
        </p:nvSpPr>
        <p:spPr>
          <a:xfrm>
            <a:off x="24378739" y="2335261"/>
            <a:ext cx="9064534" cy="769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3400">
                <a:latin typeface="Arial"/>
                <a:ea typeface="Arial"/>
                <a:cs typeface="Arial"/>
                <a:sym typeface="Arial"/>
              </a:defRPr>
            </a:lvl1pPr>
          </a:lstStyle>
          <a:p>
            <a:r>
              <a:rPr lang="en-US" sz="4400" b="1" dirty="0">
                <a:solidFill>
                  <a:schemeClr val="accent4"/>
                </a:solidFill>
              </a:rPr>
              <a:t>Drum2Music</a:t>
            </a:r>
            <a:endParaRPr sz="4400" b="1" dirty="0">
              <a:solidFill>
                <a:schemeClr val="accent4"/>
              </a:solidFill>
            </a:endParaRPr>
          </a:p>
        </p:txBody>
      </p:sp>
      <p:graphicFrame>
        <p:nvGraphicFramePr>
          <p:cNvPr id="22" name="Table 22">
            <a:extLst>
              <a:ext uri="{FF2B5EF4-FFF2-40B4-BE49-F238E27FC236}">
                <a16:creationId xmlns:a16="http://schemas.microsoft.com/office/drawing/2014/main" id="{833C1B1E-EF6E-468C-9683-23C76DA7A32F}"/>
              </a:ext>
            </a:extLst>
          </p:cNvPr>
          <p:cNvGraphicFramePr>
            <a:graphicFrameLocks noGrp="1"/>
          </p:cNvGraphicFramePr>
          <p:nvPr>
            <p:extLst>
              <p:ext uri="{D42A27DB-BD31-4B8C-83A1-F6EECF244321}">
                <p14:modId xmlns:p14="http://schemas.microsoft.com/office/powerpoint/2010/main" val="1484981368"/>
              </p:ext>
            </p:extLst>
          </p:nvPr>
        </p:nvGraphicFramePr>
        <p:xfrm>
          <a:off x="20972210" y="11919187"/>
          <a:ext cx="10510563" cy="1875674"/>
        </p:xfrm>
        <a:graphic>
          <a:graphicData uri="http://schemas.openxmlformats.org/drawingml/2006/table">
            <a:tbl>
              <a:tblPr firstRow="1" bandRow="1">
                <a:tableStyleId>{5940675A-B579-460E-94D1-54222C63F5DA}</a:tableStyleId>
              </a:tblPr>
              <a:tblGrid>
                <a:gridCol w="1267463">
                  <a:extLst>
                    <a:ext uri="{9D8B030D-6E8A-4147-A177-3AD203B41FA5}">
                      <a16:colId xmlns:a16="http://schemas.microsoft.com/office/drawing/2014/main" val="2512604916"/>
                    </a:ext>
                  </a:extLst>
                </a:gridCol>
                <a:gridCol w="3004436">
                  <a:extLst>
                    <a:ext uri="{9D8B030D-6E8A-4147-A177-3AD203B41FA5}">
                      <a16:colId xmlns:a16="http://schemas.microsoft.com/office/drawing/2014/main" val="162401505"/>
                    </a:ext>
                  </a:extLst>
                </a:gridCol>
                <a:gridCol w="1462187">
                  <a:extLst>
                    <a:ext uri="{9D8B030D-6E8A-4147-A177-3AD203B41FA5}">
                      <a16:colId xmlns:a16="http://schemas.microsoft.com/office/drawing/2014/main" val="3223615793"/>
                    </a:ext>
                  </a:extLst>
                </a:gridCol>
                <a:gridCol w="2392306">
                  <a:extLst>
                    <a:ext uri="{9D8B030D-6E8A-4147-A177-3AD203B41FA5}">
                      <a16:colId xmlns:a16="http://schemas.microsoft.com/office/drawing/2014/main" val="1205230077"/>
                    </a:ext>
                  </a:extLst>
                </a:gridCol>
                <a:gridCol w="2384171">
                  <a:extLst>
                    <a:ext uri="{9D8B030D-6E8A-4147-A177-3AD203B41FA5}">
                      <a16:colId xmlns:a16="http://schemas.microsoft.com/office/drawing/2014/main" val="1786196458"/>
                    </a:ext>
                  </a:extLst>
                </a:gridCol>
              </a:tblGrid>
              <a:tr h="869834">
                <a:tc>
                  <a:txBody>
                    <a:bodyPr/>
                    <a:lstStyle/>
                    <a:p>
                      <a:pPr algn="ctr"/>
                      <a:endParaRPr lang="en-US" sz="3000" dirty="0">
                        <a:latin typeface="Arial" panose="020B0604020202020204" pitchFamily="34" charset="0"/>
                        <a:cs typeface="Arial" panose="020B0604020202020204" pitchFamily="34" charset="0"/>
                      </a:endParaRPr>
                    </a:p>
                  </a:txBody>
                  <a:tcPr/>
                </a:tc>
                <a:tc>
                  <a:txBody>
                    <a:bodyPr/>
                    <a:lstStyle/>
                    <a:p>
                      <a:pPr algn="ctr"/>
                      <a:r>
                        <a:rPr lang="en-US" sz="3000" dirty="0"/>
                        <a:t>No Soundtrack</a:t>
                      </a:r>
                    </a:p>
                  </a:txBody>
                  <a:tcPr/>
                </a:tc>
                <a:tc>
                  <a:txBody>
                    <a:bodyPr/>
                    <a:lstStyle/>
                    <a:p>
                      <a:pPr algn="ctr"/>
                      <a:r>
                        <a:rPr lang="en-US" sz="3000" dirty="0"/>
                        <a:t>Drums Only</a:t>
                      </a:r>
                    </a:p>
                  </a:txBody>
                  <a:tcPr/>
                </a:tc>
                <a:tc>
                  <a:txBody>
                    <a:bodyPr/>
                    <a:lstStyle/>
                    <a:p>
                      <a:pPr algn="ctr"/>
                      <a:r>
                        <a:rPr lang="en-US" sz="3000" dirty="0"/>
                        <a:t>Drums + Piano</a:t>
                      </a:r>
                    </a:p>
                  </a:txBody>
                  <a:tcPr/>
                </a:tc>
                <a:tc>
                  <a:txBody>
                    <a:bodyPr/>
                    <a:lstStyle/>
                    <a:p>
                      <a:pPr algn="ctr"/>
                      <a:r>
                        <a:rPr lang="en-US" sz="3000" dirty="0"/>
                        <a:t>Drums + Guitar</a:t>
                      </a:r>
                    </a:p>
                  </a:txBody>
                  <a:tcPr/>
                </a:tc>
                <a:extLst>
                  <a:ext uri="{0D108BD9-81ED-4DB2-BD59-A6C34878D82A}">
                    <a16:rowId xmlns:a16="http://schemas.microsoft.com/office/drawing/2014/main" val="3306333765"/>
                  </a:ext>
                </a:extLst>
              </a:tr>
              <a:tr h="869834">
                <a:tc>
                  <a:txBody>
                    <a:bodyPr/>
                    <a:lstStyle/>
                    <a:p>
                      <a:pPr algn="ctr"/>
                      <a:r>
                        <a:rPr lang="en-US" sz="3000" dirty="0"/>
                        <a:t>Votes</a:t>
                      </a:r>
                    </a:p>
                  </a:txBody>
                  <a:tcPr/>
                </a:tc>
                <a:tc>
                  <a:txBody>
                    <a:bodyPr/>
                    <a:lstStyle/>
                    <a:p>
                      <a:pPr algn="ctr"/>
                      <a:r>
                        <a:rPr lang="en-US" sz="3000" dirty="0"/>
                        <a:t>7.3%</a:t>
                      </a:r>
                    </a:p>
                  </a:txBody>
                  <a:tcPr/>
                </a:tc>
                <a:tc>
                  <a:txBody>
                    <a:bodyPr/>
                    <a:lstStyle/>
                    <a:p>
                      <a:pPr algn="ctr"/>
                      <a:r>
                        <a:rPr lang="en-US" sz="3000" dirty="0"/>
                        <a:t>31.2%</a:t>
                      </a:r>
                    </a:p>
                  </a:txBody>
                  <a:tcPr/>
                </a:tc>
                <a:tc>
                  <a:txBody>
                    <a:bodyPr/>
                    <a:lstStyle/>
                    <a:p>
                      <a:pPr algn="ctr"/>
                      <a:r>
                        <a:rPr lang="en-US" sz="3000" b="1" dirty="0"/>
                        <a:t>32.1%</a:t>
                      </a:r>
                    </a:p>
                  </a:txBody>
                  <a:tcPr/>
                </a:tc>
                <a:tc>
                  <a:txBody>
                    <a:bodyPr/>
                    <a:lstStyle/>
                    <a:p>
                      <a:pPr algn="ctr"/>
                      <a:r>
                        <a:rPr lang="en-US" sz="3000" dirty="0"/>
                        <a:t>29.4%</a:t>
                      </a:r>
                    </a:p>
                  </a:txBody>
                  <a:tcPr/>
                </a:tc>
                <a:extLst>
                  <a:ext uri="{0D108BD9-81ED-4DB2-BD59-A6C34878D82A}">
                    <a16:rowId xmlns:a16="http://schemas.microsoft.com/office/drawing/2014/main" val="3394190497"/>
                  </a:ext>
                </a:extLst>
              </a:tr>
            </a:tbl>
          </a:graphicData>
        </a:graphic>
      </p:graphicFrame>
      <p:sp>
        <p:nvSpPr>
          <p:cNvPr id="23" name="TextBox 52">
            <a:extLst>
              <a:ext uri="{FF2B5EF4-FFF2-40B4-BE49-F238E27FC236}">
                <a16:creationId xmlns:a16="http://schemas.microsoft.com/office/drawing/2014/main" id="{164669C9-3246-45FA-ACA9-501F99420D6F}"/>
              </a:ext>
            </a:extLst>
          </p:cNvPr>
          <p:cNvSpPr txBox="1"/>
          <p:nvPr/>
        </p:nvSpPr>
        <p:spPr>
          <a:xfrm>
            <a:off x="21884502" y="16678155"/>
            <a:ext cx="10104775" cy="5847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2100">
                <a:latin typeface="Arial"/>
                <a:ea typeface="Arial"/>
                <a:cs typeface="Arial"/>
                <a:sym typeface="Arial"/>
              </a:defRPr>
            </a:lvl1pPr>
          </a:lstStyle>
          <a:p>
            <a:r>
              <a:rPr lang="en-US" sz="3200" b="1" dirty="0"/>
              <a:t>Soundtracks match to movements in the video</a:t>
            </a:r>
            <a:endParaRPr sz="3200" b="1" dirty="0"/>
          </a:p>
        </p:txBody>
      </p:sp>
      <p:pic>
        <p:nvPicPr>
          <p:cNvPr id="72" name="Picture 71">
            <a:extLst>
              <a:ext uri="{FF2B5EF4-FFF2-40B4-BE49-F238E27FC236}">
                <a16:creationId xmlns:a16="http://schemas.microsoft.com/office/drawing/2014/main" id="{38F1B4F9-BD6F-4C89-984A-125F4C31EC4E}"/>
              </a:ext>
            </a:extLst>
          </p:cNvPr>
          <p:cNvPicPr>
            <a:picLocks noChangeAspect="1"/>
          </p:cNvPicPr>
          <p:nvPr/>
        </p:nvPicPr>
        <p:blipFill>
          <a:blip r:embed="rId5"/>
          <a:stretch>
            <a:fillRect/>
          </a:stretch>
        </p:blipFill>
        <p:spPr>
          <a:xfrm>
            <a:off x="24648636" y="92556"/>
            <a:ext cx="2629551" cy="2191292"/>
          </a:xfrm>
          <a:prstGeom prst="rect">
            <a:avLst/>
          </a:prstGeom>
        </p:spPr>
      </p:pic>
      <p:sp>
        <p:nvSpPr>
          <p:cNvPr id="78" name="TextBox 47">
            <a:extLst>
              <a:ext uri="{FF2B5EF4-FFF2-40B4-BE49-F238E27FC236}">
                <a16:creationId xmlns:a16="http://schemas.microsoft.com/office/drawing/2014/main" id="{CBB98E84-B20F-46E2-8BBF-28C2452B2E38}"/>
              </a:ext>
            </a:extLst>
          </p:cNvPr>
          <p:cNvSpPr txBox="1"/>
          <p:nvPr/>
        </p:nvSpPr>
        <p:spPr>
          <a:xfrm>
            <a:off x="20871806" y="9293266"/>
            <a:ext cx="10916113" cy="20621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120000"/>
              </a:lnSpc>
              <a:defRPr sz="2100">
                <a:solidFill>
                  <a:srgbClr val="344854"/>
                </a:solidFill>
                <a:latin typeface="Arial"/>
                <a:ea typeface="Arial"/>
                <a:cs typeface="Arial"/>
                <a:sym typeface="Arial"/>
              </a:defRPr>
            </a:lvl1pPr>
          </a:lstStyle>
          <a:p>
            <a:pPr algn="l">
              <a:lnSpc>
                <a:spcPct val="100000"/>
              </a:lnSpc>
            </a:pPr>
            <a:r>
              <a:rPr lang="en-US" sz="3200" b="0" i="0" u="none" strike="noStrike" baseline="0" dirty="0">
                <a:solidFill>
                  <a:schemeClr val="tx1"/>
                </a:solidFill>
                <a:latin typeface="Arial" panose="020B0604020202020204" pitchFamily="34" charset="0"/>
                <a:cs typeface="Arial" panose="020B0604020202020204" pitchFamily="34" charset="0"/>
              </a:rPr>
              <a:t>We evaluate each component of </a:t>
            </a:r>
            <a:r>
              <a:rPr lang="en-US" sz="3200" dirty="0" err="1">
                <a:solidFill>
                  <a:schemeClr val="tx1"/>
                </a:solidFill>
                <a:latin typeface="Arial" panose="020B0604020202020204" pitchFamily="34" charset="0"/>
                <a:cs typeface="Arial" panose="020B0604020202020204" pitchFamily="34" charset="0"/>
              </a:rPr>
              <a:t>RhythmicNet</a:t>
            </a:r>
            <a:r>
              <a:rPr lang="en-US" sz="3200" b="0" i="0" u="none" strike="noStrike" baseline="0" dirty="0">
                <a:solidFill>
                  <a:schemeClr val="tx1"/>
                </a:solidFill>
                <a:latin typeface="Arial" panose="020B0604020202020204" pitchFamily="34" charset="0"/>
                <a:cs typeface="Arial" panose="020B0604020202020204" pitchFamily="34" charset="0"/>
              </a:rPr>
              <a:t> quantitively using available dataset (see paper for more details). We also perform a qualitative human perceptual evaluation of soundtracks of ‘in the wild’ videos.</a:t>
            </a:r>
            <a:endParaRPr lang="en-US" sz="3200" dirty="0">
              <a:solidFill>
                <a:schemeClr val="tx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87CF5CE2-C490-874D-A3D1-2B3FC026C2D3}"/>
              </a:ext>
            </a:extLst>
          </p:cNvPr>
          <p:cNvSpPr/>
          <p:nvPr/>
        </p:nvSpPr>
        <p:spPr>
          <a:xfrm>
            <a:off x="10978464" y="7345816"/>
            <a:ext cx="9825647" cy="2554545"/>
          </a:xfrm>
          <a:prstGeom prst="rect">
            <a:avLst/>
          </a:prstGeom>
        </p:spPr>
        <p:txBody>
          <a:bodyPr wrap="square">
            <a:spAutoFit/>
          </a:bodyPr>
          <a:lstStyle/>
          <a:p>
            <a:pPr lvl="0"/>
            <a:r>
              <a:rPr lang="en-US" sz="3200" b="1" dirty="0">
                <a:latin typeface="Arial" panose="020B0604020202020204" pitchFamily="34" charset="0"/>
                <a:cs typeface="Arial" panose="020B0604020202020204" pitchFamily="34" charset="0"/>
              </a:rPr>
              <a:t>Style:</a:t>
            </a:r>
            <a:r>
              <a:rPr lang="en-US" sz="3200" dirty="0">
                <a:latin typeface="Arial" panose="020B0604020202020204" pitchFamily="34" charset="0"/>
                <a:cs typeface="Arial" panose="020B0604020202020204" pitchFamily="34" charset="0"/>
              </a:rPr>
              <a:t> To capture various rapid movements and motion characteristics that are not reflected by the beat, we propose an additional stream, called the style. The combination of the two streams constitutes the rhythm of the dynamics.</a:t>
            </a:r>
          </a:p>
        </p:txBody>
      </p:sp>
      <p:sp>
        <p:nvSpPr>
          <p:cNvPr id="13" name="Rectangle 12">
            <a:extLst>
              <a:ext uri="{FF2B5EF4-FFF2-40B4-BE49-F238E27FC236}">
                <a16:creationId xmlns:a16="http://schemas.microsoft.com/office/drawing/2014/main" id="{ACE8B64C-269D-194C-AC8D-27F831101037}"/>
              </a:ext>
            </a:extLst>
          </p:cNvPr>
          <p:cNvSpPr/>
          <p:nvPr/>
        </p:nvSpPr>
        <p:spPr>
          <a:xfrm>
            <a:off x="10978464" y="19766368"/>
            <a:ext cx="9792899" cy="1569660"/>
          </a:xfrm>
          <a:prstGeom prst="rect">
            <a:avLst/>
          </a:prstGeom>
        </p:spPr>
        <p:txBody>
          <a:bodyPr wrap="square">
            <a:spAutoFit/>
          </a:bodyPr>
          <a:lstStyle/>
          <a:p>
            <a:r>
              <a:rPr lang="en-US" sz="3200" dirty="0">
                <a:latin typeface="Arial" panose="020B0604020202020204" pitchFamily="34" charset="0"/>
                <a:cs typeface="Arial" panose="020B0604020202020204" pitchFamily="34" charset="0"/>
              </a:rPr>
              <a:t>Subsequently,</a:t>
            </a:r>
            <a:r>
              <a:rPr lang="en-US" sz="3200" b="1" dirty="0">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a </a:t>
            </a:r>
            <a:r>
              <a:rPr lang="en-US" sz="3200" b="1" dirty="0">
                <a:latin typeface="Arial" panose="020B0604020202020204" pitchFamily="34" charset="0"/>
                <a:cs typeface="Arial" panose="020B0604020202020204" pitchFamily="34" charset="0"/>
              </a:rPr>
              <a:t>U</a:t>
            </a:r>
            <a:r>
              <a:rPr lang="en-US" sz="3200" dirty="0">
                <a:latin typeface="Arial" panose="020B0604020202020204" pitchFamily="34" charset="0"/>
                <a:cs typeface="Arial" panose="020B0604020202020204" pitchFamily="34" charset="0"/>
              </a:rPr>
              <a:t>-net type model generates the drum </a:t>
            </a:r>
            <a:r>
              <a:rPr lang="en-US" sz="3200" b="1" dirty="0">
                <a:latin typeface="Arial" panose="020B0604020202020204" pitchFamily="34" charset="0"/>
                <a:cs typeface="Arial" panose="020B0604020202020204" pitchFamily="34" charset="0"/>
              </a:rPr>
              <a:t>Velocities</a:t>
            </a:r>
            <a:r>
              <a:rPr lang="en-US" sz="3200" dirty="0">
                <a:latin typeface="Arial" panose="020B0604020202020204" pitchFamily="34" charset="0"/>
                <a:cs typeface="Arial" panose="020B0604020202020204" pitchFamily="34" charset="0"/>
              </a:rPr>
              <a:t> and </a:t>
            </a:r>
            <a:r>
              <a:rPr lang="en-US" sz="3200" b="1" dirty="0">
                <a:latin typeface="Arial" panose="020B0604020202020204" pitchFamily="34" charset="0"/>
                <a:cs typeface="Arial" panose="020B0604020202020204" pitchFamily="34" charset="0"/>
              </a:rPr>
              <a:t>Offsets</a:t>
            </a:r>
            <a:r>
              <a:rPr lang="en-US" sz="3200" dirty="0">
                <a:latin typeface="Arial" panose="020B0604020202020204" pitchFamily="34" charset="0"/>
                <a:cs typeface="Arial" panose="020B0604020202020204" pitchFamily="34" charset="0"/>
              </a:rPr>
              <a:t>. </a:t>
            </a:r>
            <a:r>
              <a:rPr lang="en-US" altLang="zh-CN" sz="3200" dirty="0">
                <a:latin typeface="Arial" panose="020B0604020202020204" pitchFamily="34" charset="0"/>
                <a:cs typeface="Arial" panose="020B0604020202020204" pitchFamily="34" charset="0"/>
              </a:rPr>
              <a:t>The</a:t>
            </a:r>
            <a:r>
              <a:rPr lang="en-US" altLang="zh-CN" sz="3200" b="1" dirty="0">
                <a:latin typeface="Arial" panose="020B0604020202020204" pitchFamily="34" charset="0"/>
                <a:cs typeface="Arial" panose="020B0604020202020204" pitchFamily="34" charset="0"/>
              </a:rPr>
              <a:t> </a:t>
            </a:r>
            <a:r>
              <a:rPr lang="en-US" altLang="zh-CN" sz="3200" dirty="0">
                <a:latin typeface="Arial" panose="020B0604020202020204" pitchFamily="34" charset="0"/>
                <a:cs typeface="Arial" panose="020B0604020202020204" pitchFamily="34" charset="0"/>
              </a:rPr>
              <a:t>U-Net</a:t>
            </a:r>
            <a:r>
              <a:rPr lang="zh-CN" altLang="en-US" sz="3200" dirty="0">
                <a:latin typeface="Arial" panose="020B0604020202020204" pitchFamily="34" charset="0"/>
                <a:cs typeface="Arial" panose="020B0604020202020204" pitchFamily="34" charset="0"/>
              </a:rPr>
              <a:t> </a:t>
            </a:r>
            <a:r>
              <a:rPr lang="en-US" altLang="zh-CN" sz="3200" dirty="0">
                <a:latin typeface="Arial" panose="020B0604020202020204" pitchFamily="34" charset="0"/>
                <a:cs typeface="Arial" panose="020B0604020202020204" pitchFamily="34" charset="0"/>
              </a:rPr>
              <a:t>learns</a:t>
            </a:r>
            <a:r>
              <a:rPr lang="zh-CN" altLang="en-US" sz="3200" dirty="0">
                <a:latin typeface="Arial" panose="020B0604020202020204" pitchFamily="34" charset="0"/>
                <a:cs typeface="Arial" panose="020B0604020202020204" pitchFamily="34" charset="0"/>
              </a:rPr>
              <a:t> </a:t>
            </a:r>
            <a:r>
              <a:rPr lang="en-US" altLang="zh-CN" sz="3200" dirty="0">
                <a:latin typeface="Arial" panose="020B0604020202020204" pitchFamily="34" charset="0"/>
                <a:cs typeface="Arial" panose="020B0604020202020204" pitchFamily="34" charset="0"/>
              </a:rPr>
              <a:t>them conditioned</a:t>
            </a:r>
            <a:r>
              <a:rPr lang="zh-CN" altLang="en-US" sz="3200" dirty="0">
                <a:latin typeface="Arial" panose="020B0604020202020204" pitchFamily="34" charset="0"/>
                <a:cs typeface="Arial" panose="020B0604020202020204" pitchFamily="34" charset="0"/>
              </a:rPr>
              <a:t> </a:t>
            </a:r>
            <a:r>
              <a:rPr lang="en-US" altLang="zh-CN" sz="3200" dirty="0">
                <a:latin typeface="Arial" panose="020B0604020202020204" pitchFamily="34" charset="0"/>
                <a:cs typeface="Arial" panose="020B0604020202020204" pitchFamily="34" charset="0"/>
              </a:rPr>
              <a:t>on the</a:t>
            </a:r>
            <a:r>
              <a:rPr lang="zh-CN" altLang="en-US" sz="3200" dirty="0">
                <a:latin typeface="Arial" panose="020B0604020202020204" pitchFamily="34" charset="0"/>
                <a:cs typeface="Arial" panose="020B0604020202020204" pitchFamily="34" charset="0"/>
              </a:rPr>
              <a:t> </a:t>
            </a:r>
            <a:r>
              <a:rPr lang="en-US" altLang="zh-CN" sz="3200" b="1" dirty="0">
                <a:latin typeface="Arial" panose="020B0604020202020204" pitchFamily="34" charset="0"/>
                <a:cs typeface="Arial" panose="020B0604020202020204" pitchFamily="34" charset="0"/>
              </a:rPr>
              <a:t>Hits</a:t>
            </a:r>
            <a:r>
              <a:rPr lang="zh-CN" altLang="en-US" sz="3200" dirty="0">
                <a:latin typeface="Arial" panose="020B0604020202020204" pitchFamily="34" charset="0"/>
                <a:cs typeface="Arial" panose="020B0604020202020204" pitchFamily="34" charset="0"/>
              </a:rPr>
              <a:t> </a:t>
            </a:r>
            <a:r>
              <a:rPr lang="en-US" altLang="zh-CN" sz="3200" dirty="0">
                <a:latin typeface="Arial" panose="020B0604020202020204" pitchFamily="34" charset="0"/>
                <a:cs typeface="Arial" panose="020B0604020202020204" pitchFamily="34" charset="0"/>
              </a:rPr>
              <a:t>matrix.</a:t>
            </a:r>
            <a:endParaRPr lang="en-US" sz="3200" dirty="0">
              <a:latin typeface="Arial" panose="020B0604020202020204" pitchFamily="34" charset="0"/>
              <a:cs typeface="Arial" panose="020B0604020202020204" pitchFamily="34" charset="0"/>
            </a:endParaRPr>
          </a:p>
        </p:txBody>
      </p:sp>
      <p:pic>
        <p:nvPicPr>
          <p:cNvPr id="55" name="Picture 54">
            <a:extLst>
              <a:ext uri="{FF2B5EF4-FFF2-40B4-BE49-F238E27FC236}">
                <a16:creationId xmlns:a16="http://schemas.microsoft.com/office/drawing/2014/main" id="{44475E8F-1299-4D3D-93CA-AC1E41A84603}"/>
              </a:ext>
            </a:extLst>
          </p:cNvPr>
          <p:cNvPicPr>
            <a:picLocks noChangeAspect="1"/>
          </p:cNvPicPr>
          <p:nvPr/>
        </p:nvPicPr>
        <p:blipFill>
          <a:blip r:embed="rId6"/>
          <a:stretch>
            <a:fillRect/>
          </a:stretch>
        </p:blipFill>
        <p:spPr>
          <a:xfrm>
            <a:off x="2687130" y="3726041"/>
            <a:ext cx="931451" cy="1733548"/>
          </a:xfrm>
          <a:prstGeom prst="rect">
            <a:avLst/>
          </a:prstGeom>
        </p:spPr>
      </p:pic>
      <p:pic>
        <p:nvPicPr>
          <p:cNvPr id="56" name="Picture 55">
            <a:extLst>
              <a:ext uri="{FF2B5EF4-FFF2-40B4-BE49-F238E27FC236}">
                <a16:creationId xmlns:a16="http://schemas.microsoft.com/office/drawing/2014/main" id="{17C775B1-CF96-4067-A1C8-3BA55EAA8C19}"/>
              </a:ext>
            </a:extLst>
          </p:cNvPr>
          <p:cNvPicPr>
            <a:picLocks noChangeAspect="1"/>
          </p:cNvPicPr>
          <p:nvPr/>
        </p:nvPicPr>
        <p:blipFill>
          <a:blip r:embed="rId6"/>
          <a:stretch>
            <a:fillRect/>
          </a:stretch>
        </p:blipFill>
        <p:spPr>
          <a:xfrm>
            <a:off x="2780246" y="3916807"/>
            <a:ext cx="931451" cy="1733548"/>
          </a:xfrm>
          <a:prstGeom prst="rect">
            <a:avLst/>
          </a:prstGeom>
        </p:spPr>
      </p:pic>
      <p:pic>
        <p:nvPicPr>
          <p:cNvPr id="57" name="Picture 56">
            <a:extLst>
              <a:ext uri="{FF2B5EF4-FFF2-40B4-BE49-F238E27FC236}">
                <a16:creationId xmlns:a16="http://schemas.microsoft.com/office/drawing/2014/main" id="{84222129-7448-40BA-95AD-689E6F183913}"/>
              </a:ext>
            </a:extLst>
          </p:cNvPr>
          <p:cNvPicPr>
            <a:picLocks noChangeAspect="1"/>
          </p:cNvPicPr>
          <p:nvPr/>
        </p:nvPicPr>
        <p:blipFill>
          <a:blip r:embed="rId6"/>
          <a:stretch>
            <a:fillRect/>
          </a:stretch>
        </p:blipFill>
        <p:spPr>
          <a:xfrm>
            <a:off x="2881479" y="4136121"/>
            <a:ext cx="931451" cy="1733548"/>
          </a:xfrm>
          <a:prstGeom prst="rect">
            <a:avLst/>
          </a:prstGeom>
        </p:spPr>
      </p:pic>
      <p:pic>
        <p:nvPicPr>
          <p:cNvPr id="58" name="Picture 57">
            <a:extLst>
              <a:ext uri="{FF2B5EF4-FFF2-40B4-BE49-F238E27FC236}">
                <a16:creationId xmlns:a16="http://schemas.microsoft.com/office/drawing/2014/main" id="{8CC32CC7-D37F-415A-8E00-5FB000EEE7D9}"/>
              </a:ext>
            </a:extLst>
          </p:cNvPr>
          <p:cNvPicPr>
            <a:picLocks noChangeAspect="1"/>
          </p:cNvPicPr>
          <p:nvPr/>
        </p:nvPicPr>
        <p:blipFill>
          <a:blip r:embed="rId6"/>
          <a:stretch>
            <a:fillRect/>
          </a:stretch>
        </p:blipFill>
        <p:spPr>
          <a:xfrm>
            <a:off x="2982712" y="4401407"/>
            <a:ext cx="931451" cy="1733548"/>
          </a:xfrm>
          <a:prstGeom prst="rect">
            <a:avLst/>
          </a:prstGeom>
        </p:spPr>
      </p:pic>
      <p:pic>
        <p:nvPicPr>
          <p:cNvPr id="59" name="Picture 58" descr="A black line on a white background&#10;&#10;Description automatically generated with low confidence">
            <a:extLst>
              <a:ext uri="{FF2B5EF4-FFF2-40B4-BE49-F238E27FC236}">
                <a16:creationId xmlns:a16="http://schemas.microsoft.com/office/drawing/2014/main" id="{FAAFE9AC-7B15-4F13-B3D1-BC0768237FF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51982" t="25347" r="19256" b="38176"/>
          <a:stretch/>
        </p:blipFill>
        <p:spPr>
          <a:xfrm>
            <a:off x="5310631" y="3808630"/>
            <a:ext cx="988647" cy="1733548"/>
          </a:xfrm>
          <a:prstGeom prst="rect">
            <a:avLst/>
          </a:prstGeom>
          <a:ln>
            <a:solidFill>
              <a:schemeClr val="tx1"/>
            </a:solidFill>
          </a:ln>
        </p:spPr>
      </p:pic>
      <p:pic>
        <p:nvPicPr>
          <p:cNvPr id="60" name="Picture 59" descr="A black line on a white background&#10;&#10;Description automatically generated with low confidence">
            <a:extLst>
              <a:ext uri="{FF2B5EF4-FFF2-40B4-BE49-F238E27FC236}">
                <a16:creationId xmlns:a16="http://schemas.microsoft.com/office/drawing/2014/main" id="{35BEE051-B627-4CE7-A1CE-D1CD68C8276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51982" t="25347" r="19256" b="38176"/>
          <a:stretch/>
        </p:blipFill>
        <p:spPr>
          <a:xfrm>
            <a:off x="5396895" y="4005751"/>
            <a:ext cx="988647" cy="1733548"/>
          </a:xfrm>
          <a:prstGeom prst="rect">
            <a:avLst/>
          </a:prstGeom>
          <a:ln>
            <a:solidFill>
              <a:schemeClr val="tx1"/>
            </a:solidFill>
          </a:ln>
        </p:spPr>
      </p:pic>
      <p:pic>
        <p:nvPicPr>
          <p:cNvPr id="61" name="Picture 60" descr="A black line on a white background&#10;&#10;Description automatically generated with low confidence">
            <a:extLst>
              <a:ext uri="{FF2B5EF4-FFF2-40B4-BE49-F238E27FC236}">
                <a16:creationId xmlns:a16="http://schemas.microsoft.com/office/drawing/2014/main" id="{4A2DD7C8-99E6-46A9-8BE1-9972483DC01E}"/>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51982" t="25347" r="19256" b="38176"/>
          <a:stretch/>
        </p:blipFill>
        <p:spPr>
          <a:xfrm>
            <a:off x="5489533" y="4225065"/>
            <a:ext cx="988647" cy="1733548"/>
          </a:xfrm>
          <a:prstGeom prst="rect">
            <a:avLst/>
          </a:prstGeom>
          <a:ln>
            <a:solidFill>
              <a:schemeClr val="tx1"/>
            </a:solidFill>
          </a:ln>
        </p:spPr>
      </p:pic>
      <p:pic>
        <p:nvPicPr>
          <p:cNvPr id="62" name="Picture 61" descr="A black line on a white background&#10;&#10;Description automatically generated with low confidence">
            <a:extLst>
              <a:ext uri="{FF2B5EF4-FFF2-40B4-BE49-F238E27FC236}">
                <a16:creationId xmlns:a16="http://schemas.microsoft.com/office/drawing/2014/main" id="{881D2408-ECC5-482B-885D-ED06E361FDE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51982" t="25347" r="19256" b="38176"/>
          <a:stretch/>
        </p:blipFill>
        <p:spPr>
          <a:xfrm>
            <a:off x="5567003" y="4491492"/>
            <a:ext cx="988647" cy="1733548"/>
          </a:xfrm>
          <a:prstGeom prst="rect">
            <a:avLst/>
          </a:prstGeom>
          <a:ln>
            <a:solidFill>
              <a:schemeClr val="tx1"/>
            </a:solidFill>
          </a:ln>
        </p:spPr>
      </p:pic>
      <p:sp>
        <p:nvSpPr>
          <p:cNvPr id="63" name="Arrow: Right 62">
            <a:extLst>
              <a:ext uri="{FF2B5EF4-FFF2-40B4-BE49-F238E27FC236}">
                <a16:creationId xmlns:a16="http://schemas.microsoft.com/office/drawing/2014/main" id="{F6E166DD-0CC0-40AD-9776-213C3BD274F3}"/>
              </a:ext>
            </a:extLst>
          </p:cNvPr>
          <p:cNvSpPr/>
          <p:nvPr/>
        </p:nvSpPr>
        <p:spPr>
          <a:xfrm>
            <a:off x="4705588" y="4954594"/>
            <a:ext cx="261153" cy="301613"/>
          </a:xfrm>
          <a:prstGeom prst="rightArrow">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4" name="Arrow: Right 63">
            <a:extLst>
              <a:ext uri="{FF2B5EF4-FFF2-40B4-BE49-F238E27FC236}">
                <a16:creationId xmlns:a16="http://schemas.microsoft.com/office/drawing/2014/main" id="{E42DF5B0-31C2-4089-AA73-15AD0BF3D10C}"/>
              </a:ext>
            </a:extLst>
          </p:cNvPr>
          <p:cNvSpPr/>
          <p:nvPr/>
        </p:nvSpPr>
        <p:spPr>
          <a:xfrm>
            <a:off x="6847010" y="4982743"/>
            <a:ext cx="298969" cy="301613"/>
          </a:xfrm>
          <a:prstGeom prst="rightArrow">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65" name="Group 64">
            <a:extLst>
              <a:ext uri="{FF2B5EF4-FFF2-40B4-BE49-F238E27FC236}">
                <a16:creationId xmlns:a16="http://schemas.microsoft.com/office/drawing/2014/main" id="{CF267167-EF32-469C-8E06-3CD327FBE86B}"/>
              </a:ext>
            </a:extLst>
          </p:cNvPr>
          <p:cNvGrpSpPr/>
          <p:nvPr/>
        </p:nvGrpSpPr>
        <p:grpSpPr>
          <a:xfrm>
            <a:off x="7307127" y="4096152"/>
            <a:ext cx="9372439" cy="2071696"/>
            <a:chOff x="2638162" y="3251130"/>
            <a:chExt cx="7434679" cy="921290"/>
          </a:xfrm>
        </p:grpSpPr>
        <p:sp>
          <p:nvSpPr>
            <p:cNvPr id="66" name="Rectangle: Rounded Corners 65">
              <a:extLst>
                <a:ext uri="{FF2B5EF4-FFF2-40B4-BE49-F238E27FC236}">
                  <a16:creationId xmlns:a16="http://schemas.microsoft.com/office/drawing/2014/main" id="{D825E0F7-B06C-4CC1-8A50-A792852F23DD}"/>
                </a:ext>
              </a:extLst>
            </p:cNvPr>
            <p:cNvSpPr/>
            <p:nvPr/>
          </p:nvSpPr>
          <p:spPr>
            <a:xfrm>
              <a:off x="2638162" y="3251130"/>
              <a:ext cx="2351261" cy="921290"/>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latin typeface="Arial" panose="020B0604020202020204" pitchFamily="34" charset="0"/>
                  <a:cs typeface="Arial" panose="020B0604020202020204" pitchFamily="34" charset="0"/>
                </a:rPr>
                <a:t>Video2Rhythm</a:t>
              </a:r>
            </a:p>
          </p:txBody>
        </p:sp>
        <p:sp>
          <p:nvSpPr>
            <p:cNvPr id="67" name="Rectangle: Rounded Corners 66">
              <a:extLst>
                <a:ext uri="{FF2B5EF4-FFF2-40B4-BE49-F238E27FC236}">
                  <a16:creationId xmlns:a16="http://schemas.microsoft.com/office/drawing/2014/main" id="{BB365CA6-B93C-4F70-9E2A-603921E1D758}"/>
                </a:ext>
              </a:extLst>
            </p:cNvPr>
            <p:cNvSpPr/>
            <p:nvPr/>
          </p:nvSpPr>
          <p:spPr>
            <a:xfrm>
              <a:off x="5301245" y="3251130"/>
              <a:ext cx="2351260" cy="92129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latin typeface="Arial" panose="020B0604020202020204" pitchFamily="34" charset="0"/>
                  <a:cs typeface="Arial" panose="020B0604020202020204" pitchFamily="34" charset="0"/>
                </a:rPr>
                <a:t>Rhythm2Drum</a:t>
              </a:r>
            </a:p>
          </p:txBody>
        </p:sp>
        <p:sp>
          <p:nvSpPr>
            <p:cNvPr id="68" name="Rectangle: Rounded Corners 67">
              <a:extLst>
                <a:ext uri="{FF2B5EF4-FFF2-40B4-BE49-F238E27FC236}">
                  <a16:creationId xmlns:a16="http://schemas.microsoft.com/office/drawing/2014/main" id="{ADC1D64F-AF2D-4342-A566-5670C0B48EDB}"/>
                </a:ext>
              </a:extLst>
            </p:cNvPr>
            <p:cNvSpPr/>
            <p:nvPr/>
          </p:nvSpPr>
          <p:spPr>
            <a:xfrm>
              <a:off x="7897571" y="3251130"/>
              <a:ext cx="2175270" cy="921290"/>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latin typeface="Arial" panose="020B0604020202020204" pitchFamily="34" charset="0"/>
                  <a:cs typeface="Arial" panose="020B0604020202020204" pitchFamily="34" charset="0"/>
                </a:rPr>
                <a:t>Drum2Music</a:t>
              </a:r>
            </a:p>
          </p:txBody>
        </p:sp>
        <p:sp>
          <p:nvSpPr>
            <p:cNvPr id="69" name="Arrow: Right 68">
              <a:extLst>
                <a:ext uri="{FF2B5EF4-FFF2-40B4-BE49-F238E27FC236}">
                  <a16:creationId xmlns:a16="http://schemas.microsoft.com/office/drawing/2014/main" id="{B7984728-DE87-44BF-A797-0BEE66E05978}"/>
                </a:ext>
              </a:extLst>
            </p:cNvPr>
            <p:cNvSpPr/>
            <p:nvPr/>
          </p:nvSpPr>
          <p:spPr>
            <a:xfrm>
              <a:off x="5008727" y="3646481"/>
              <a:ext cx="299379" cy="173044"/>
            </a:xfrm>
            <a:prstGeom prst="rightArrow">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70" name="Arrow: Right 69">
              <a:extLst>
                <a:ext uri="{FF2B5EF4-FFF2-40B4-BE49-F238E27FC236}">
                  <a16:creationId xmlns:a16="http://schemas.microsoft.com/office/drawing/2014/main" id="{C55D017D-190D-40EC-8248-C22CC09BD8A7}"/>
                </a:ext>
              </a:extLst>
            </p:cNvPr>
            <p:cNvSpPr/>
            <p:nvPr/>
          </p:nvSpPr>
          <p:spPr>
            <a:xfrm>
              <a:off x="7596555" y="3657731"/>
              <a:ext cx="291730" cy="173044"/>
            </a:xfrm>
            <a:prstGeom prst="rightArrow">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pic>
        <p:nvPicPr>
          <p:cNvPr id="71" name="Picture 70" descr="A picture containing chart&#10;&#10;Description automatically generated">
            <a:extLst>
              <a:ext uri="{FF2B5EF4-FFF2-40B4-BE49-F238E27FC236}">
                <a16:creationId xmlns:a16="http://schemas.microsoft.com/office/drawing/2014/main" id="{E3A194C0-4571-438B-B916-B43F5AAAC4CF}"/>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6209" t="3754" r="4777" b="5823"/>
          <a:stretch/>
        </p:blipFill>
        <p:spPr>
          <a:xfrm>
            <a:off x="17283002" y="3956039"/>
            <a:ext cx="2123953" cy="2237312"/>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3" name="Arrow: Right 72">
            <a:extLst>
              <a:ext uri="{FF2B5EF4-FFF2-40B4-BE49-F238E27FC236}">
                <a16:creationId xmlns:a16="http://schemas.microsoft.com/office/drawing/2014/main" id="{59A040E9-3789-4203-BBAA-CAF01A69BE7C}"/>
              </a:ext>
            </a:extLst>
          </p:cNvPr>
          <p:cNvSpPr/>
          <p:nvPr/>
        </p:nvSpPr>
        <p:spPr>
          <a:xfrm>
            <a:off x="16749911" y="5024948"/>
            <a:ext cx="308128" cy="301613"/>
          </a:xfrm>
          <a:prstGeom prst="rightArrow">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CCD36E3D-5654-4E07-9C24-1292A782493E}"/>
              </a:ext>
            </a:extLst>
          </p:cNvPr>
          <p:cNvSpPr txBox="1"/>
          <p:nvPr/>
        </p:nvSpPr>
        <p:spPr>
          <a:xfrm>
            <a:off x="16841897" y="6463100"/>
            <a:ext cx="3014417"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Soundtrack</a:t>
            </a:r>
            <a:endParaRPr lang="en-US" sz="2800" b="1" dirty="0">
              <a:latin typeface="Arial" panose="020B0604020202020204" pitchFamily="34" charset="0"/>
              <a:cs typeface="Arial" panose="020B0604020202020204" pitchFamily="34" charset="0"/>
            </a:endParaRPr>
          </a:p>
        </p:txBody>
      </p:sp>
      <p:sp>
        <p:nvSpPr>
          <p:cNvPr id="90" name="TextBox 89">
            <a:extLst>
              <a:ext uri="{FF2B5EF4-FFF2-40B4-BE49-F238E27FC236}">
                <a16:creationId xmlns:a16="http://schemas.microsoft.com/office/drawing/2014/main" id="{73F2DB95-C4B2-45D6-B35E-82D9DD6A6C28}"/>
              </a:ext>
            </a:extLst>
          </p:cNvPr>
          <p:cNvSpPr txBox="1"/>
          <p:nvPr/>
        </p:nvSpPr>
        <p:spPr>
          <a:xfrm>
            <a:off x="1090639" y="6463100"/>
            <a:ext cx="4997834"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Human Activity Video</a:t>
            </a:r>
            <a:endParaRPr lang="en-US" sz="3200" b="1" dirty="0">
              <a:latin typeface="Arial" panose="020B0604020202020204" pitchFamily="34" charset="0"/>
              <a:cs typeface="Arial" panose="020B0604020202020204" pitchFamily="34" charset="0"/>
            </a:endParaRPr>
          </a:p>
        </p:txBody>
      </p:sp>
      <p:sp>
        <p:nvSpPr>
          <p:cNvPr id="91" name="TextBox 90">
            <a:extLst>
              <a:ext uri="{FF2B5EF4-FFF2-40B4-BE49-F238E27FC236}">
                <a16:creationId xmlns:a16="http://schemas.microsoft.com/office/drawing/2014/main" id="{8ABD8170-DF38-4D57-8D09-1C1347C1EBCB}"/>
              </a:ext>
            </a:extLst>
          </p:cNvPr>
          <p:cNvSpPr txBox="1"/>
          <p:nvPr/>
        </p:nvSpPr>
        <p:spPr>
          <a:xfrm>
            <a:off x="8669715" y="2860705"/>
            <a:ext cx="5255917" cy="830997"/>
          </a:xfrm>
          <a:prstGeom prst="rect">
            <a:avLst/>
          </a:prstGeom>
          <a:noFill/>
        </p:spPr>
        <p:txBody>
          <a:bodyPr wrap="square" rtlCol="0">
            <a:spAutoFit/>
          </a:bodyPr>
          <a:lstStyle/>
          <a:p>
            <a:pPr algn="ctr"/>
            <a:r>
              <a:rPr lang="en-US" sz="4800" b="1" spc="50" dirty="0" err="1">
                <a:ln w="0"/>
                <a:solidFill>
                  <a:srgbClr val="7030A0"/>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RhythmicNet</a:t>
            </a:r>
            <a:endParaRPr lang="en-US" sz="4400" b="1" spc="50" dirty="0">
              <a:ln w="0"/>
              <a:solidFill>
                <a:srgbClr val="7030A0"/>
              </a:solidFill>
              <a:effectLst>
                <a:innerShdw blurRad="63500" dist="50800" dir="13500000">
                  <a:srgbClr val="000000">
                    <a:alpha val="50000"/>
                  </a:srgbClr>
                </a:innerShdw>
              </a:effectLst>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BDF97ABE-BEDF-420B-A191-53B1C068F2D4}"/>
              </a:ext>
            </a:extLst>
          </p:cNvPr>
          <p:cNvGrpSpPr/>
          <p:nvPr/>
        </p:nvGrpSpPr>
        <p:grpSpPr>
          <a:xfrm>
            <a:off x="638702" y="13920758"/>
            <a:ext cx="10236541" cy="4751577"/>
            <a:chOff x="46841" y="1902941"/>
            <a:chExt cx="12421736" cy="4389630"/>
          </a:xfrm>
        </p:grpSpPr>
        <p:pic>
          <p:nvPicPr>
            <p:cNvPr id="92" name="Picture 91">
              <a:extLst>
                <a:ext uri="{FF2B5EF4-FFF2-40B4-BE49-F238E27FC236}">
                  <a16:creationId xmlns:a16="http://schemas.microsoft.com/office/drawing/2014/main" id="{95C8C985-EF1D-4E32-9A20-EAB332F29CE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05006" y="2457753"/>
              <a:ext cx="3489069" cy="90702"/>
            </a:xfrm>
            <a:prstGeom prst="rect">
              <a:avLst/>
            </a:prstGeom>
          </p:spPr>
        </p:pic>
        <p:pic>
          <p:nvPicPr>
            <p:cNvPr id="93" name="Picture 92">
              <a:extLst>
                <a:ext uri="{FF2B5EF4-FFF2-40B4-BE49-F238E27FC236}">
                  <a16:creationId xmlns:a16="http://schemas.microsoft.com/office/drawing/2014/main" id="{163EA81D-A1AC-473C-A9AB-F8B33EF71EE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02343" y="4214547"/>
              <a:ext cx="3489069" cy="91321"/>
            </a:xfrm>
            <a:prstGeom prst="rect">
              <a:avLst/>
            </a:prstGeom>
          </p:spPr>
        </p:pic>
        <p:sp>
          <p:nvSpPr>
            <p:cNvPr id="94" name="Plus Sign 93">
              <a:extLst>
                <a:ext uri="{FF2B5EF4-FFF2-40B4-BE49-F238E27FC236}">
                  <a16:creationId xmlns:a16="http://schemas.microsoft.com/office/drawing/2014/main" id="{EEC83E7C-CEEC-4FA4-BA68-EE198FC478E3}"/>
                </a:ext>
              </a:extLst>
            </p:cNvPr>
            <p:cNvSpPr>
              <a:spLocks noChangeAspect="1"/>
            </p:cNvSpPr>
            <p:nvPr/>
          </p:nvSpPr>
          <p:spPr>
            <a:xfrm>
              <a:off x="9893749" y="3213961"/>
              <a:ext cx="483025" cy="457200"/>
            </a:xfrm>
            <a:prstGeom prst="mathPlus">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95" name="TextBox 94">
              <a:extLst>
                <a:ext uri="{FF2B5EF4-FFF2-40B4-BE49-F238E27FC236}">
                  <a16:creationId xmlns:a16="http://schemas.microsoft.com/office/drawing/2014/main" id="{F83EEB5E-CFC5-4188-9AA0-B515F1E59AA3}"/>
                </a:ext>
              </a:extLst>
            </p:cNvPr>
            <p:cNvSpPr txBox="1"/>
            <p:nvPr/>
          </p:nvSpPr>
          <p:spPr>
            <a:xfrm>
              <a:off x="8470097" y="2568136"/>
              <a:ext cx="3558279" cy="483364"/>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Beat Prediction</a:t>
              </a:r>
            </a:p>
          </p:txBody>
        </p:sp>
        <p:sp>
          <p:nvSpPr>
            <p:cNvPr id="96" name="TextBox 95">
              <a:extLst>
                <a:ext uri="{FF2B5EF4-FFF2-40B4-BE49-F238E27FC236}">
                  <a16:creationId xmlns:a16="http://schemas.microsoft.com/office/drawing/2014/main" id="{ECB3031D-C198-4523-BABA-309F2F4594C9}"/>
                </a:ext>
              </a:extLst>
            </p:cNvPr>
            <p:cNvSpPr txBox="1"/>
            <p:nvPr/>
          </p:nvSpPr>
          <p:spPr>
            <a:xfrm>
              <a:off x="8063428" y="4253035"/>
              <a:ext cx="4405149" cy="483364"/>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Style Extraction</a:t>
              </a:r>
            </a:p>
          </p:txBody>
        </p:sp>
        <p:pic>
          <p:nvPicPr>
            <p:cNvPr id="97" name="Picture 96">
              <a:extLst>
                <a:ext uri="{FF2B5EF4-FFF2-40B4-BE49-F238E27FC236}">
                  <a16:creationId xmlns:a16="http://schemas.microsoft.com/office/drawing/2014/main" id="{F9AF4C0A-8C9D-422E-8BA1-D05A87B6D0C2}"/>
                </a:ext>
              </a:extLst>
            </p:cNvPr>
            <p:cNvPicPr>
              <a:picLocks noChangeAspect="1"/>
            </p:cNvPicPr>
            <p:nvPr/>
          </p:nvPicPr>
          <p:blipFill>
            <a:blip r:embed="rId6"/>
            <a:stretch>
              <a:fillRect/>
            </a:stretch>
          </p:blipFill>
          <p:spPr>
            <a:xfrm>
              <a:off x="46841" y="2109926"/>
              <a:ext cx="738873" cy="994587"/>
            </a:xfrm>
            <a:prstGeom prst="rect">
              <a:avLst/>
            </a:prstGeom>
          </p:spPr>
        </p:pic>
        <p:pic>
          <p:nvPicPr>
            <p:cNvPr id="98" name="Picture 97">
              <a:extLst>
                <a:ext uri="{FF2B5EF4-FFF2-40B4-BE49-F238E27FC236}">
                  <a16:creationId xmlns:a16="http://schemas.microsoft.com/office/drawing/2014/main" id="{25CEEB3B-07CE-4804-812B-C19128B70351}"/>
                </a:ext>
              </a:extLst>
            </p:cNvPr>
            <p:cNvPicPr>
              <a:picLocks noChangeAspect="1"/>
            </p:cNvPicPr>
            <p:nvPr/>
          </p:nvPicPr>
          <p:blipFill>
            <a:blip r:embed="rId6"/>
            <a:stretch>
              <a:fillRect/>
            </a:stretch>
          </p:blipFill>
          <p:spPr>
            <a:xfrm>
              <a:off x="120705" y="2219374"/>
              <a:ext cx="738873" cy="994587"/>
            </a:xfrm>
            <a:prstGeom prst="rect">
              <a:avLst/>
            </a:prstGeom>
          </p:spPr>
        </p:pic>
        <p:pic>
          <p:nvPicPr>
            <p:cNvPr id="99" name="Picture 98">
              <a:extLst>
                <a:ext uri="{FF2B5EF4-FFF2-40B4-BE49-F238E27FC236}">
                  <a16:creationId xmlns:a16="http://schemas.microsoft.com/office/drawing/2014/main" id="{BF579ACB-15AF-400B-A6D7-B45484ADF585}"/>
                </a:ext>
              </a:extLst>
            </p:cNvPr>
            <p:cNvPicPr>
              <a:picLocks noChangeAspect="1"/>
            </p:cNvPicPr>
            <p:nvPr/>
          </p:nvPicPr>
          <p:blipFill>
            <a:blip r:embed="rId6"/>
            <a:stretch>
              <a:fillRect/>
            </a:stretch>
          </p:blipFill>
          <p:spPr>
            <a:xfrm>
              <a:off x="201008" y="2345201"/>
              <a:ext cx="738873" cy="994587"/>
            </a:xfrm>
            <a:prstGeom prst="rect">
              <a:avLst/>
            </a:prstGeom>
          </p:spPr>
        </p:pic>
        <p:pic>
          <p:nvPicPr>
            <p:cNvPr id="100" name="Picture 99">
              <a:extLst>
                <a:ext uri="{FF2B5EF4-FFF2-40B4-BE49-F238E27FC236}">
                  <a16:creationId xmlns:a16="http://schemas.microsoft.com/office/drawing/2014/main" id="{B42C8F99-0AC5-438B-A4F2-E69F98494CCE}"/>
                </a:ext>
              </a:extLst>
            </p:cNvPr>
            <p:cNvPicPr>
              <a:picLocks noChangeAspect="1"/>
            </p:cNvPicPr>
            <p:nvPr/>
          </p:nvPicPr>
          <p:blipFill>
            <a:blip r:embed="rId6"/>
            <a:stretch>
              <a:fillRect/>
            </a:stretch>
          </p:blipFill>
          <p:spPr>
            <a:xfrm>
              <a:off x="281311" y="2497403"/>
              <a:ext cx="738873" cy="994587"/>
            </a:xfrm>
            <a:prstGeom prst="rect">
              <a:avLst/>
            </a:prstGeom>
          </p:spPr>
        </p:pic>
        <p:pic>
          <p:nvPicPr>
            <p:cNvPr id="101" name="Picture 100" descr="A black line on a white background&#10;&#10;Description automatically generated with low confidence">
              <a:extLst>
                <a:ext uri="{FF2B5EF4-FFF2-40B4-BE49-F238E27FC236}">
                  <a16:creationId xmlns:a16="http://schemas.microsoft.com/office/drawing/2014/main" id="{57405E7C-97FA-4161-96F2-5E2D064DBF74}"/>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51982" t="25347" r="19256" b="38176"/>
            <a:stretch/>
          </p:blipFill>
          <p:spPr>
            <a:xfrm>
              <a:off x="1309530" y="2106280"/>
              <a:ext cx="784243" cy="994587"/>
            </a:xfrm>
            <a:prstGeom prst="rect">
              <a:avLst/>
            </a:prstGeom>
            <a:ln>
              <a:solidFill>
                <a:schemeClr val="tx1"/>
              </a:solidFill>
            </a:ln>
          </p:spPr>
        </p:pic>
        <p:pic>
          <p:nvPicPr>
            <p:cNvPr id="102" name="Picture 101" descr="A black line on a white background&#10;&#10;Description automatically generated with low confidence">
              <a:extLst>
                <a:ext uri="{FF2B5EF4-FFF2-40B4-BE49-F238E27FC236}">
                  <a16:creationId xmlns:a16="http://schemas.microsoft.com/office/drawing/2014/main" id="{F1A9F804-EA8F-4F00-898E-91D891C58F2E}"/>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51982" t="25347" r="19256" b="38176"/>
            <a:stretch/>
          </p:blipFill>
          <p:spPr>
            <a:xfrm>
              <a:off x="1377959" y="2219374"/>
              <a:ext cx="784243" cy="994587"/>
            </a:xfrm>
            <a:prstGeom prst="rect">
              <a:avLst/>
            </a:prstGeom>
            <a:ln>
              <a:solidFill>
                <a:schemeClr val="tx1"/>
              </a:solidFill>
            </a:ln>
          </p:spPr>
        </p:pic>
        <p:pic>
          <p:nvPicPr>
            <p:cNvPr id="103" name="Picture 102" descr="A black line on a white background&#10;&#10;Description automatically generated with low confidence">
              <a:extLst>
                <a:ext uri="{FF2B5EF4-FFF2-40B4-BE49-F238E27FC236}">
                  <a16:creationId xmlns:a16="http://schemas.microsoft.com/office/drawing/2014/main" id="{BDA6DE9A-4131-430C-9B76-0AAD398AB373}"/>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51982" t="25347" r="19256" b="38176"/>
            <a:stretch/>
          </p:blipFill>
          <p:spPr>
            <a:xfrm>
              <a:off x="1451444" y="2345201"/>
              <a:ext cx="784243" cy="994587"/>
            </a:xfrm>
            <a:prstGeom prst="rect">
              <a:avLst/>
            </a:prstGeom>
            <a:ln>
              <a:solidFill>
                <a:schemeClr val="tx1"/>
              </a:solidFill>
            </a:ln>
          </p:spPr>
        </p:pic>
        <p:pic>
          <p:nvPicPr>
            <p:cNvPr id="104" name="Picture 103" descr="A black line on a white background&#10;&#10;Description automatically generated with low confidence">
              <a:extLst>
                <a:ext uri="{FF2B5EF4-FFF2-40B4-BE49-F238E27FC236}">
                  <a16:creationId xmlns:a16="http://schemas.microsoft.com/office/drawing/2014/main" id="{FAC5EF84-44A4-4F9F-A3A4-C87B2E06CC83}"/>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51982" t="25347" r="19256" b="38176"/>
            <a:stretch/>
          </p:blipFill>
          <p:spPr>
            <a:xfrm>
              <a:off x="1512897" y="2498058"/>
              <a:ext cx="784243" cy="994587"/>
            </a:xfrm>
            <a:prstGeom prst="rect">
              <a:avLst/>
            </a:prstGeom>
            <a:ln>
              <a:solidFill>
                <a:schemeClr val="tx1"/>
              </a:solidFill>
            </a:ln>
          </p:spPr>
        </p:pic>
        <p:sp>
          <p:nvSpPr>
            <p:cNvPr id="105" name="Arrow: Right 54">
              <a:extLst>
                <a:ext uri="{FF2B5EF4-FFF2-40B4-BE49-F238E27FC236}">
                  <a16:creationId xmlns:a16="http://schemas.microsoft.com/office/drawing/2014/main" id="{5944F4D4-8085-4CA3-8016-8D7F9A899E61}"/>
                </a:ext>
              </a:extLst>
            </p:cNvPr>
            <p:cNvSpPr/>
            <p:nvPr/>
          </p:nvSpPr>
          <p:spPr>
            <a:xfrm>
              <a:off x="1057295" y="2944659"/>
              <a:ext cx="207159" cy="173044"/>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06" name="TextBox 105">
              <a:extLst>
                <a:ext uri="{FF2B5EF4-FFF2-40B4-BE49-F238E27FC236}">
                  <a16:creationId xmlns:a16="http://schemas.microsoft.com/office/drawing/2014/main" id="{4E010DA7-713B-411F-8420-62F98D01EA08}"/>
                </a:ext>
              </a:extLst>
            </p:cNvPr>
            <p:cNvSpPr txBox="1"/>
            <p:nvPr/>
          </p:nvSpPr>
          <p:spPr>
            <a:xfrm>
              <a:off x="120705" y="3554087"/>
              <a:ext cx="2831220" cy="527244"/>
            </a:xfrm>
            <a:prstGeom prst="rect">
              <a:avLst/>
            </a:prstGeom>
            <a:noFill/>
          </p:spPr>
          <p:txBody>
            <a:bodyPr wrap="square" rtlCol="0">
              <a:spAutoFit/>
            </a:bodyPr>
            <a:lstStyle/>
            <a:p>
              <a:pPr algn="ctr"/>
              <a:r>
                <a:rPr lang="en-US" sz="2800" dirty="0" err="1">
                  <a:latin typeface="Arial" panose="020B0604020202020204" pitchFamily="34" charset="0"/>
                  <a:cs typeface="Arial" panose="020B0604020202020204" pitchFamily="34" charset="0"/>
                </a:rPr>
                <a:t>Keypoints</a:t>
              </a:r>
              <a:endParaRPr lang="en-US" sz="2400" dirty="0">
                <a:latin typeface="Arial" panose="020B0604020202020204" pitchFamily="34" charset="0"/>
                <a:cs typeface="Arial" panose="020B0604020202020204" pitchFamily="34" charset="0"/>
              </a:endParaRPr>
            </a:p>
          </p:txBody>
        </p:sp>
        <p:sp>
          <p:nvSpPr>
            <p:cNvPr id="107" name="Rounded Rectangle 2">
              <a:extLst>
                <a:ext uri="{FF2B5EF4-FFF2-40B4-BE49-F238E27FC236}">
                  <a16:creationId xmlns:a16="http://schemas.microsoft.com/office/drawing/2014/main" id="{B7BF9976-EE59-4BC8-9EE7-0B3D7F7F9E5B}"/>
                </a:ext>
              </a:extLst>
            </p:cNvPr>
            <p:cNvSpPr/>
            <p:nvPr/>
          </p:nvSpPr>
          <p:spPr>
            <a:xfrm>
              <a:off x="3904735" y="1902941"/>
              <a:ext cx="3126260" cy="1197926"/>
            </a:xfrm>
            <a:prstGeom prst="roundRect">
              <a:avLst/>
            </a:pr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rial" panose="020B0604020202020204" pitchFamily="34" charset="0"/>
                  <a:cs typeface="Arial" panose="020B0604020202020204" pitchFamily="34" charset="0"/>
                </a:rPr>
                <a:t>ST-GCN + </a:t>
              </a:r>
              <a:r>
                <a:rPr lang="en-US" sz="2800" b="1" dirty="0">
                  <a:solidFill>
                    <a:schemeClr val="tx1"/>
                  </a:solidFill>
                  <a:latin typeface="Arial" panose="020B0604020202020204" pitchFamily="34" charset="0"/>
                  <a:cs typeface="Arial" panose="020B0604020202020204" pitchFamily="34" charset="0"/>
                </a:rPr>
                <a:t>Transformer</a:t>
              </a:r>
            </a:p>
          </p:txBody>
        </p:sp>
        <p:sp>
          <p:nvSpPr>
            <p:cNvPr id="108" name="Rounded Rectangle 51">
              <a:extLst>
                <a:ext uri="{FF2B5EF4-FFF2-40B4-BE49-F238E27FC236}">
                  <a16:creationId xmlns:a16="http://schemas.microsoft.com/office/drawing/2014/main" id="{607E3488-96B2-4567-9E43-3E09F8EC99C9}"/>
                </a:ext>
              </a:extLst>
            </p:cNvPr>
            <p:cNvSpPr/>
            <p:nvPr/>
          </p:nvSpPr>
          <p:spPr>
            <a:xfrm>
              <a:off x="3904735" y="3671159"/>
              <a:ext cx="3126260" cy="1197926"/>
            </a:xfrm>
            <a:prstGeom prst="roundRect">
              <a:avLst/>
            </a:pr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Kinematic</a:t>
              </a:r>
              <a:r>
                <a:rPr lang="en-US" sz="2800" dirty="0">
                  <a:solidFill>
                    <a:schemeClr val="tx1"/>
                  </a:solidFill>
                  <a:latin typeface="Arial" panose="020B0604020202020204" pitchFamily="34" charset="0"/>
                  <a:cs typeface="Arial" panose="020B0604020202020204" pitchFamily="34" charset="0"/>
                </a:rPr>
                <a:t> </a:t>
              </a:r>
            </a:p>
            <a:p>
              <a:pPr algn="ctr"/>
              <a:r>
                <a:rPr lang="en-US" sz="2800" dirty="0">
                  <a:solidFill>
                    <a:schemeClr val="tx1"/>
                  </a:solidFill>
                  <a:latin typeface="Arial" panose="020B0604020202020204" pitchFamily="34" charset="0"/>
                  <a:cs typeface="Arial" panose="020B0604020202020204" pitchFamily="34" charset="0"/>
                </a:rPr>
                <a:t>Analysis</a:t>
              </a:r>
            </a:p>
          </p:txBody>
        </p:sp>
        <p:grpSp>
          <p:nvGrpSpPr>
            <p:cNvPr id="109" name="Group 108">
              <a:extLst>
                <a:ext uri="{FF2B5EF4-FFF2-40B4-BE49-F238E27FC236}">
                  <a16:creationId xmlns:a16="http://schemas.microsoft.com/office/drawing/2014/main" id="{A3340C2F-AABA-49A3-9094-149F223D6640}"/>
                </a:ext>
              </a:extLst>
            </p:cNvPr>
            <p:cNvGrpSpPr/>
            <p:nvPr/>
          </p:nvGrpSpPr>
          <p:grpSpPr>
            <a:xfrm>
              <a:off x="8342013" y="4884501"/>
              <a:ext cx="3588218" cy="1408070"/>
              <a:chOff x="8342013" y="4633784"/>
              <a:chExt cx="3588218" cy="1408070"/>
            </a:xfrm>
          </p:grpSpPr>
          <p:pic>
            <p:nvPicPr>
              <p:cNvPr id="110" name="Picture 109">
                <a:extLst>
                  <a:ext uri="{FF2B5EF4-FFF2-40B4-BE49-F238E27FC236}">
                    <a16:creationId xmlns:a16="http://schemas.microsoft.com/office/drawing/2014/main" id="{44330AA7-FB1F-4678-AA52-94027A9EB4DD}"/>
                  </a:ext>
                </a:extLst>
              </p:cNvPr>
              <p:cNvPicPr>
                <a:picLocks/>
              </p:cNvPicPr>
              <p:nvPr/>
            </p:nvPicPr>
            <p:blipFill rotWithShape="1">
              <a:blip r:embed="rId12">
                <a:extLst>
                  <a:ext uri="{28A0092B-C50C-407E-A947-70E740481C1C}">
                    <a14:useLocalDpi xmlns:a14="http://schemas.microsoft.com/office/drawing/2010/main" val="0"/>
                  </a:ext>
                </a:extLst>
              </a:blip>
              <a:srcRect l="-2924" t="66" r="-1" b="49935"/>
              <a:stretch/>
            </p:blipFill>
            <p:spPr>
              <a:xfrm>
                <a:off x="8342013" y="5468957"/>
                <a:ext cx="3588218" cy="91322"/>
              </a:xfrm>
              <a:prstGeom prst="rect">
                <a:avLst/>
              </a:prstGeom>
            </p:spPr>
          </p:pic>
          <p:sp>
            <p:nvSpPr>
              <p:cNvPr id="111" name="TextBox 110">
                <a:extLst>
                  <a:ext uri="{FF2B5EF4-FFF2-40B4-BE49-F238E27FC236}">
                    <a16:creationId xmlns:a16="http://schemas.microsoft.com/office/drawing/2014/main" id="{E67AD3DC-F3C8-4576-A046-76901FAF636E}"/>
                  </a:ext>
                </a:extLst>
              </p:cNvPr>
              <p:cNvSpPr txBox="1"/>
              <p:nvPr/>
            </p:nvSpPr>
            <p:spPr>
              <a:xfrm>
                <a:off x="8923558" y="5558490"/>
                <a:ext cx="2495617" cy="483364"/>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Rhythm</a:t>
                </a:r>
                <a:endParaRPr lang="en-US" sz="2400" b="1" dirty="0">
                  <a:latin typeface="Arial" panose="020B0604020202020204" pitchFamily="34" charset="0"/>
                  <a:cs typeface="Arial" panose="020B0604020202020204" pitchFamily="34" charset="0"/>
                </a:endParaRPr>
              </a:p>
            </p:txBody>
          </p:sp>
          <p:sp>
            <p:nvSpPr>
              <p:cNvPr id="112" name="Down Arrow 9">
                <a:extLst>
                  <a:ext uri="{FF2B5EF4-FFF2-40B4-BE49-F238E27FC236}">
                    <a16:creationId xmlns:a16="http://schemas.microsoft.com/office/drawing/2014/main" id="{BDAD42DF-F422-40C6-B53E-DCF75F5AADE2}"/>
                  </a:ext>
                </a:extLst>
              </p:cNvPr>
              <p:cNvSpPr/>
              <p:nvPr/>
            </p:nvSpPr>
            <p:spPr>
              <a:xfrm>
                <a:off x="10039182" y="4633784"/>
                <a:ext cx="210065" cy="577375"/>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grpSp>
        <p:sp>
          <p:nvSpPr>
            <p:cNvPr id="113" name="Arrow: Right 54">
              <a:extLst>
                <a:ext uri="{FF2B5EF4-FFF2-40B4-BE49-F238E27FC236}">
                  <a16:creationId xmlns:a16="http://schemas.microsoft.com/office/drawing/2014/main" id="{431BEEBF-F39E-4C88-BA5F-56605FB3514C}"/>
                </a:ext>
              </a:extLst>
            </p:cNvPr>
            <p:cNvSpPr/>
            <p:nvPr/>
          </p:nvSpPr>
          <p:spPr>
            <a:xfrm rot="20815123">
              <a:off x="2806551" y="2544820"/>
              <a:ext cx="784243" cy="159483"/>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14" name="Arrow: Right 54">
              <a:extLst>
                <a:ext uri="{FF2B5EF4-FFF2-40B4-BE49-F238E27FC236}">
                  <a16:creationId xmlns:a16="http://schemas.microsoft.com/office/drawing/2014/main" id="{7F45FFC4-26FC-4ABB-AD7F-0B96BB626175}"/>
                </a:ext>
              </a:extLst>
            </p:cNvPr>
            <p:cNvSpPr/>
            <p:nvPr/>
          </p:nvSpPr>
          <p:spPr>
            <a:xfrm rot="1004977">
              <a:off x="2815007" y="3591418"/>
              <a:ext cx="784243" cy="159483"/>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15" name="Arrow: Right 54">
              <a:extLst>
                <a:ext uri="{FF2B5EF4-FFF2-40B4-BE49-F238E27FC236}">
                  <a16:creationId xmlns:a16="http://schemas.microsoft.com/office/drawing/2014/main" id="{CAF604DC-FBF1-4655-A9A1-B2E81C1ED786}"/>
                </a:ext>
              </a:extLst>
            </p:cNvPr>
            <p:cNvSpPr/>
            <p:nvPr/>
          </p:nvSpPr>
          <p:spPr>
            <a:xfrm>
              <a:off x="7188614" y="2344522"/>
              <a:ext cx="784243" cy="159483"/>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16" name="Arrow: Right 54">
              <a:extLst>
                <a:ext uri="{FF2B5EF4-FFF2-40B4-BE49-F238E27FC236}">
                  <a16:creationId xmlns:a16="http://schemas.microsoft.com/office/drawing/2014/main" id="{6D22C8E3-DE33-44A3-98A2-7FA7816A45C6}"/>
                </a:ext>
              </a:extLst>
            </p:cNvPr>
            <p:cNvSpPr/>
            <p:nvPr/>
          </p:nvSpPr>
          <p:spPr>
            <a:xfrm>
              <a:off x="7227712" y="4226126"/>
              <a:ext cx="784243" cy="159483"/>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grpSp>
        <p:nvGrpSpPr>
          <p:cNvPr id="15" name="Group 14">
            <a:extLst>
              <a:ext uri="{FF2B5EF4-FFF2-40B4-BE49-F238E27FC236}">
                <a16:creationId xmlns:a16="http://schemas.microsoft.com/office/drawing/2014/main" id="{08DC0312-2F62-46AE-A6DC-89EA04FBE9E6}"/>
              </a:ext>
            </a:extLst>
          </p:cNvPr>
          <p:cNvGrpSpPr/>
          <p:nvPr/>
        </p:nvGrpSpPr>
        <p:grpSpPr>
          <a:xfrm>
            <a:off x="10934697" y="14596605"/>
            <a:ext cx="9842258" cy="5004178"/>
            <a:chOff x="862130" y="1898149"/>
            <a:chExt cx="10930543" cy="3907647"/>
          </a:xfrm>
        </p:grpSpPr>
        <p:sp>
          <p:nvSpPr>
            <p:cNvPr id="118" name="Rectangle: Rounded Corners 117">
              <a:extLst>
                <a:ext uri="{FF2B5EF4-FFF2-40B4-BE49-F238E27FC236}">
                  <a16:creationId xmlns:a16="http://schemas.microsoft.com/office/drawing/2014/main" id="{2392E46B-FA8A-42C1-B363-716995853DF0}"/>
                </a:ext>
              </a:extLst>
            </p:cNvPr>
            <p:cNvSpPr/>
            <p:nvPr/>
          </p:nvSpPr>
          <p:spPr>
            <a:xfrm>
              <a:off x="2154325" y="2920850"/>
              <a:ext cx="2700861" cy="1092127"/>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anose="020B0604020202020204" pitchFamily="34" charset="0"/>
                  <a:cs typeface="Arial" panose="020B0604020202020204" pitchFamily="34" charset="0"/>
                </a:rPr>
                <a:t>Encoder-Decoder Transformer </a:t>
              </a:r>
            </a:p>
          </p:txBody>
        </p:sp>
        <p:sp>
          <p:nvSpPr>
            <p:cNvPr id="119" name="Rectangle: Rounded Corners 118">
              <a:extLst>
                <a:ext uri="{FF2B5EF4-FFF2-40B4-BE49-F238E27FC236}">
                  <a16:creationId xmlns:a16="http://schemas.microsoft.com/office/drawing/2014/main" id="{FB58C618-2610-4EEC-AE43-C52C88C769CD}"/>
                </a:ext>
              </a:extLst>
            </p:cNvPr>
            <p:cNvSpPr/>
            <p:nvPr/>
          </p:nvSpPr>
          <p:spPr>
            <a:xfrm>
              <a:off x="7286906" y="3726337"/>
              <a:ext cx="1917818" cy="1040721"/>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anose="020B0604020202020204" pitchFamily="34" charset="0"/>
                  <a:cs typeface="Arial" panose="020B0604020202020204" pitchFamily="34" charset="0"/>
                </a:rPr>
                <a:t>U-Net</a:t>
              </a:r>
            </a:p>
          </p:txBody>
        </p:sp>
        <p:pic>
          <p:nvPicPr>
            <p:cNvPr id="120" name="Picture 119">
              <a:extLst>
                <a:ext uri="{FF2B5EF4-FFF2-40B4-BE49-F238E27FC236}">
                  <a16:creationId xmlns:a16="http://schemas.microsoft.com/office/drawing/2014/main" id="{347D258B-97CE-4C56-9A75-1C477A90D6B2}"/>
                </a:ext>
              </a:extLst>
            </p:cNvPr>
            <p:cNvPicPr>
              <a:picLocks noChangeAspect="1"/>
            </p:cNvPicPr>
            <p:nvPr/>
          </p:nvPicPr>
          <p:blipFill rotWithShape="1">
            <a:blip r:embed="rId13">
              <a:extLst>
                <a:ext uri="{28A0092B-C50C-407E-A947-70E740481C1C}">
                  <a14:useLocalDpi xmlns:a14="http://schemas.microsoft.com/office/drawing/2010/main" val="0"/>
                </a:ext>
              </a:extLst>
            </a:blip>
            <a:srcRect l="12727" r="28102" b="3654"/>
            <a:stretch/>
          </p:blipFill>
          <p:spPr>
            <a:xfrm flipV="1">
              <a:off x="862130" y="2356871"/>
              <a:ext cx="1646702" cy="76628"/>
            </a:xfrm>
            <a:prstGeom prst="rect">
              <a:avLst/>
            </a:prstGeom>
          </p:spPr>
        </p:pic>
        <p:pic>
          <p:nvPicPr>
            <p:cNvPr id="121" name="Picture 120" descr="Background pattern&#10;&#10;Description automatically generated">
              <a:extLst>
                <a:ext uri="{FF2B5EF4-FFF2-40B4-BE49-F238E27FC236}">
                  <a16:creationId xmlns:a16="http://schemas.microsoft.com/office/drawing/2014/main" id="{2C0087EE-25DC-4B5D-888B-D717F0BD72A3}"/>
                </a:ext>
              </a:extLst>
            </p:cNvPr>
            <p:cNvPicPr>
              <a:picLocks noChangeAspect="1"/>
            </p:cNvPicPr>
            <p:nvPr/>
          </p:nvPicPr>
          <p:blipFill rotWithShape="1">
            <a:blip r:embed="rId14">
              <a:extLst>
                <a:ext uri="{28A0092B-C50C-407E-A947-70E740481C1C}">
                  <a14:useLocalDpi xmlns:a14="http://schemas.microsoft.com/office/drawing/2010/main" val="0"/>
                </a:ext>
              </a:extLst>
            </a:blip>
            <a:srcRect l="12473" r="28218"/>
            <a:stretch/>
          </p:blipFill>
          <p:spPr>
            <a:xfrm>
              <a:off x="5231077" y="3363898"/>
              <a:ext cx="1653614" cy="761239"/>
            </a:xfrm>
            <a:prstGeom prst="rect">
              <a:avLst/>
            </a:prstGeom>
          </p:spPr>
        </p:pic>
        <p:sp>
          <p:nvSpPr>
            <p:cNvPr id="122" name="TextBox 121">
              <a:extLst>
                <a:ext uri="{FF2B5EF4-FFF2-40B4-BE49-F238E27FC236}">
                  <a16:creationId xmlns:a16="http://schemas.microsoft.com/office/drawing/2014/main" id="{F5FC3660-EAA8-4503-A6D0-50ABF4CED3FA}"/>
                </a:ext>
              </a:extLst>
            </p:cNvPr>
            <p:cNvSpPr txBox="1"/>
            <p:nvPr/>
          </p:nvSpPr>
          <p:spPr>
            <a:xfrm>
              <a:off x="1109909" y="1898149"/>
              <a:ext cx="1761408" cy="427130"/>
            </a:xfrm>
            <a:prstGeom prst="rect">
              <a:avLst/>
            </a:prstGeom>
            <a:noFill/>
          </p:spPr>
          <p:txBody>
            <a:bodyPr wrap="square" rtlCol="0">
              <a:spAutoFit/>
            </a:bodyPr>
            <a:lstStyle/>
            <a:p>
              <a:r>
                <a:rPr lang="en-US" sz="2800" dirty="0">
                  <a:latin typeface="Eurostile" panose="020B0504020202050204" pitchFamily="34" charset="77"/>
                  <a:cs typeface="Arial" panose="020B0604020202020204" pitchFamily="34" charset="0"/>
                </a:rPr>
                <a:t>Rhythm</a:t>
              </a:r>
              <a:endParaRPr lang="en-US" sz="2400" dirty="0">
                <a:latin typeface="Eurostile" panose="020B0504020202050204" pitchFamily="34" charset="77"/>
                <a:cs typeface="Arial" panose="020B0604020202020204" pitchFamily="34" charset="0"/>
              </a:endParaRPr>
            </a:p>
          </p:txBody>
        </p:sp>
        <p:sp>
          <p:nvSpPr>
            <p:cNvPr id="123" name="TextBox 122">
              <a:extLst>
                <a:ext uri="{FF2B5EF4-FFF2-40B4-BE49-F238E27FC236}">
                  <a16:creationId xmlns:a16="http://schemas.microsoft.com/office/drawing/2014/main" id="{53694967-0578-4AEE-BFC6-8FA6BBC515A1}"/>
                </a:ext>
              </a:extLst>
            </p:cNvPr>
            <p:cNvSpPr txBox="1"/>
            <p:nvPr/>
          </p:nvSpPr>
          <p:spPr>
            <a:xfrm>
              <a:off x="5623728" y="4092740"/>
              <a:ext cx="1388348" cy="408570"/>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Hits</a:t>
              </a:r>
            </a:p>
          </p:txBody>
        </p:sp>
        <p:sp>
          <p:nvSpPr>
            <p:cNvPr id="124" name="Arrow: Right 54">
              <a:extLst>
                <a:ext uri="{FF2B5EF4-FFF2-40B4-BE49-F238E27FC236}">
                  <a16:creationId xmlns:a16="http://schemas.microsoft.com/office/drawing/2014/main" id="{EFCEDFE5-2D20-4694-9E83-BA4BB842A901}"/>
                </a:ext>
              </a:extLst>
            </p:cNvPr>
            <p:cNvSpPr/>
            <p:nvPr/>
          </p:nvSpPr>
          <p:spPr>
            <a:xfrm rot="2549107">
              <a:off x="1469641" y="2710492"/>
              <a:ext cx="648312" cy="130703"/>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25" name="Arrow: Right 54">
              <a:extLst>
                <a:ext uri="{FF2B5EF4-FFF2-40B4-BE49-F238E27FC236}">
                  <a16:creationId xmlns:a16="http://schemas.microsoft.com/office/drawing/2014/main" id="{3EE661D1-2FC2-4B90-9B7C-1581B2EE483B}"/>
                </a:ext>
              </a:extLst>
            </p:cNvPr>
            <p:cNvSpPr/>
            <p:nvPr/>
          </p:nvSpPr>
          <p:spPr>
            <a:xfrm rot="2549107">
              <a:off x="4897445" y="3659411"/>
              <a:ext cx="317005" cy="163296"/>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26" name="Arrow: Right 54">
              <a:extLst>
                <a:ext uri="{FF2B5EF4-FFF2-40B4-BE49-F238E27FC236}">
                  <a16:creationId xmlns:a16="http://schemas.microsoft.com/office/drawing/2014/main" id="{6580B786-432C-449E-8129-ADCDFA8450E9}"/>
                </a:ext>
              </a:extLst>
            </p:cNvPr>
            <p:cNvSpPr/>
            <p:nvPr/>
          </p:nvSpPr>
          <p:spPr>
            <a:xfrm rot="2549107">
              <a:off x="6935049" y="3988014"/>
              <a:ext cx="317005" cy="163296"/>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127" name="Group 126">
              <a:extLst>
                <a:ext uri="{FF2B5EF4-FFF2-40B4-BE49-F238E27FC236}">
                  <a16:creationId xmlns:a16="http://schemas.microsoft.com/office/drawing/2014/main" id="{C627EDB7-3BE0-496D-8076-5C10679F0459}"/>
                </a:ext>
              </a:extLst>
            </p:cNvPr>
            <p:cNvGrpSpPr/>
            <p:nvPr/>
          </p:nvGrpSpPr>
          <p:grpSpPr>
            <a:xfrm>
              <a:off x="9246616" y="3370939"/>
              <a:ext cx="2546057" cy="2434857"/>
              <a:chOff x="9246616" y="3370939"/>
              <a:chExt cx="2546057" cy="2434857"/>
            </a:xfrm>
          </p:grpSpPr>
          <p:pic>
            <p:nvPicPr>
              <p:cNvPr id="128" name="Picture 127" descr="Background pattern&#10;&#10;Description automatically generated">
                <a:extLst>
                  <a:ext uri="{FF2B5EF4-FFF2-40B4-BE49-F238E27FC236}">
                    <a16:creationId xmlns:a16="http://schemas.microsoft.com/office/drawing/2014/main" id="{B5F94484-BC00-45E5-92A8-88D6322ED082}"/>
                  </a:ext>
                </a:extLst>
              </p:cNvPr>
              <p:cNvPicPr>
                <a:picLocks noChangeAspect="1"/>
              </p:cNvPicPr>
              <p:nvPr/>
            </p:nvPicPr>
            <p:blipFill rotWithShape="1">
              <a:blip r:embed="rId15">
                <a:extLst>
                  <a:ext uri="{28A0092B-C50C-407E-A947-70E740481C1C}">
                    <a14:useLocalDpi xmlns:a14="http://schemas.microsoft.com/office/drawing/2010/main" val="0"/>
                  </a:ext>
                </a:extLst>
              </a:blip>
              <a:srcRect l="15977" r="23825"/>
              <a:stretch/>
            </p:blipFill>
            <p:spPr>
              <a:xfrm>
                <a:off x="9709188" y="3370939"/>
                <a:ext cx="1678413" cy="761239"/>
              </a:xfrm>
              <a:prstGeom prst="rect">
                <a:avLst/>
              </a:prstGeom>
            </p:spPr>
          </p:pic>
          <p:pic>
            <p:nvPicPr>
              <p:cNvPr id="129" name="Picture 128" descr="Background pattern&#10;&#10;Description automatically generated with medium confidence">
                <a:extLst>
                  <a:ext uri="{FF2B5EF4-FFF2-40B4-BE49-F238E27FC236}">
                    <a16:creationId xmlns:a16="http://schemas.microsoft.com/office/drawing/2014/main" id="{9600821E-C3A0-40F9-8EFF-0DD6143EC8F4}"/>
                  </a:ext>
                </a:extLst>
              </p:cNvPr>
              <p:cNvPicPr>
                <a:picLocks noChangeAspect="1"/>
              </p:cNvPicPr>
              <p:nvPr/>
            </p:nvPicPr>
            <p:blipFill rotWithShape="1">
              <a:blip r:embed="rId16">
                <a:extLst>
                  <a:ext uri="{28A0092B-C50C-407E-A947-70E740481C1C}">
                    <a14:useLocalDpi xmlns:a14="http://schemas.microsoft.com/office/drawing/2010/main" val="0"/>
                  </a:ext>
                </a:extLst>
              </a:blip>
              <a:srcRect l="15977" r="23825"/>
              <a:stretch/>
            </p:blipFill>
            <p:spPr>
              <a:xfrm>
                <a:off x="9709188" y="4658605"/>
                <a:ext cx="1678413" cy="761239"/>
              </a:xfrm>
              <a:prstGeom prst="rect">
                <a:avLst/>
              </a:prstGeom>
            </p:spPr>
          </p:pic>
          <p:sp>
            <p:nvSpPr>
              <p:cNvPr id="130" name="TextBox 129">
                <a:extLst>
                  <a:ext uri="{FF2B5EF4-FFF2-40B4-BE49-F238E27FC236}">
                    <a16:creationId xmlns:a16="http://schemas.microsoft.com/office/drawing/2014/main" id="{F202DCEA-16AE-4565-B886-64663C7EAB80}"/>
                  </a:ext>
                </a:extLst>
              </p:cNvPr>
              <p:cNvSpPr txBox="1"/>
              <p:nvPr/>
            </p:nvSpPr>
            <p:spPr>
              <a:xfrm>
                <a:off x="9531965" y="4090952"/>
                <a:ext cx="2260708" cy="408570"/>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Velocities</a:t>
                </a:r>
                <a:endParaRPr lang="en-US" sz="2400" b="1" dirty="0">
                  <a:latin typeface="Arial" panose="020B0604020202020204" pitchFamily="34" charset="0"/>
                  <a:cs typeface="Arial" panose="020B0604020202020204" pitchFamily="34" charset="0"/>
                </a:endParaRPr>
              </a:p>
            </p:txBody>
          </p:sp>
          <p:sp>
            <p:nvSpPr>
              <p:cNvPr id="131" name="TextBox 130">
                <a:extLst>
                  <a:ext uri="{FF2B5EF4-FFF2-40B4-BE49-F238E27FC236}">
                    <a16:creationId xmlns:a16="http://schemas.microsoft.com/office/drawing/2014/main" id="{D7CD4DEA-BC37-4C24-9F54-D8BA568AD583}"/>
                  </a:ext>
                </a:extLst>
              </p:cNvPr>
              <p:cNvSpPr txBox="1"/>
              <p:nvPr/>
            </p:nvSpPr>
            <p:spPr>
              <a:xfrm>
                <a:off x="9748684" y="5397226"/>
                <a:ext cx="1763656" cy="408570"/>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Offsets</a:t>
                </a:r>
                <a:endParaRPr lang="en-US" sz="2400" b="1" dirty="0">
                  <a:latin typeface="Arial" panose="020B0604020202020204" pitchFamily="34" charset="0"/>
                  <a:cs typeface="Arial" panose="020B0604020202020204" pitchFamily="34" charset="0"/>
                </a:endParaRPr>
              </a:p>
            </p:txBody>
          </p:sp>
          <p:sp>
            <p:nvSpPr>
              <p:cNvPr id="132" name="Arrow: Right 54">
                <a:extLst>
                  <a:ext uri="{FF2B5EF4-FFF2-40B4-BE49-F238E27FC236}">
                    <a16:creationId xmlns:a16="http://schemas.microsoft.com/office/drawing/2014/main" id="{7BBB3BAB-DDF2-4BB7-B5D5-45BF9CC3786D}"/>
                  </a:ext>
                </a:extLst>
              </p:cNvPr>
              <p:cNvSpPr/>
              <p:nvPr/>
            </p:nvSpPr>
            <p:spPr>
              <a:xfrm rot="2330131">
                <a:off x="9246616" y="4510463"/>
                <a:ext cx="457200" cy="159483"/>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33" name="Arrow: Right 54">
                <a:extLst>
                  <a:ext uri="{FF2B5EF4-FFF2-40B4-BE49-F238E27FC236}">
                    <a16:creationId xmlns:a16="http://schemas.microsoft.com/office/drawing/2014/main" id="{4F4E2472-C4A8-4F69-A25B-06EDA597A551}"/>
                  </a:ext>
                </a:extLst>
              </p:cNvPr>
              <p:cNvSpPr/>
              <p:nvPr/>
            </p:nvSpPr>
            <p:spPr>
              <a:xfrm>
                <a:off x="9292024" y="3797739"/>
                <a:ext cx="365760" cy="155448"/>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grpSp>
      <p:grpSp>
        <p:nvGrpSpPr>
          <p:cNvPr id="17" name="Group 16">
            <a:extLst>
              <a:ext uri="{FF2B5EF4-FFF2-40B4-BE49-F238E27FC236}">
                <a16:creationId xmlns:a16="http://schemas.microsoft.com/office/drawing/2014/main" id="{F4E03D6C-0339-44F9-B2B9-BC58000E07A1}"/>
              </a:ext>
            </a:extLst>
          </p:cNvPr>
          <p:cNvGrpSpPr/>
          <p:nvPr/>
        </p:nvGrpSpPr>
        <p:grpSpPr>
          <a:xfrm>
            <a:off x="21024640" y="5198806"/>
            <a:ext cx="11710110" cy="3323628"/>
            <a:chOff x="816092" y="1516942"/>
            <a:chExt cx="11710110" cy="3323628"/>
          </a:xfrm>
        </p:grpSpPr>
        <p:pic>
          <p:nvPicPr>
            <p:cNvPr id="135" name="Picture 134" descr="Chart&#10;&#10;Description automatically generated">
              <a:extLst>
                <a:ext uri="{FF2B5EF4-FFF2-40B4-BE49-F238E27FC236}">
                  <a16:creationId xmlns:a16="http://schemas.microsoft.com/office/drawing/2014/main" id="{B20019C0-0DF6-4FC7-B8CE-6A4E790ACB3A}"/>
                </a:ext>
              </a:extLst>
            </p:cNvPr>
            <p:cNvPicPr>
              <a:picLocks noChangeAspect="1"/>
            </p:cNvPicPr>
            <p:nvPr/>
          </p:nvPicPr>
          <p:blipFill rotWithShape="1">
            <a:blip r:embed="rId17" cstate="print">
              <a:extLst>
                <a:ext uri="{28A0092B-C50C-407E-A947-70E740481C1C}">
                  <a14:useLocalDpi xmlns:a14="http://schemas.microsoft.com/office/drawing/2010/main" val="0"/>
                </a:ext>
              </a:extLst>
            </a:blip>
            <a:srcRect l="6282" t="7545" r="4952" b="11690"/>
            <a:stretch/>
          </p:blipFill>
          <p:spPr>
            <a:xfrm>
              <a:off x="816092" y="1516942"/>
              <a:ext cx="2572321" cy="1224597"/>
            </a:xfrm>
            <a:prstGeom prst="rect">
              <a:avLst/>
            </a:prstGeom>
          </p:spPr>
        </p:pic>
        <p:sp>
          <p:nvSpPr>
            <p:cNvPr id="136" name="TextBox 135">
              <a:extLst>
                <a:ext uri="{FF2B5EF4-FFF2-40B4-BE49-F238E27FC236}">
                  <a16:creationId xmlns:a16="http://schemas.microsoft.com/office/drawing/2014/main" id="{E7B0E6DC-6476-49CC-BD54-11854624ED7B}"/>
                </a:ext>
              </a:extLst>
            </p:cNvPr>
            <p:cNvSpPr txBox="1"/>
            <p:nvPr/>
          </p:nvSpPr>
          <p:spPr>
            <a:xfrm>
              <a:off x="886348" y="2781236"/>
              <a:ext cx="2445622" cy="523220"/>
            </a:xfrm>
            <a:prstGeom prst="rect">
              <a:avLst/>
            </a:prstGeom>
            <a:noFill/>
          </p:spPr>
          <p:txBody>
            <a:bodyPr wrap="square" rtlCol="0">
              <a:spAutoFit/>
            </a:bodyPr>
            <a:lstStyle/>
            <a:p>
              <a:pPr algn="ctr"/>
              <a:r>
                <a:rPr lang="en-US" sz="2800" dirty="0">
                  <a:latin typeface="Arial" panose="020B0604020202020204" pitchFamily="34" charset="0"/>
                  <a:cs typeface="Arial" panose="020B0604020202020204" pitchFamily="34" charset="0"/>
                </a:rPr>
                <a:t>Drum Midi</a:t>
              </a:r>
            </a:p>
          </p:txBody>
        </p:sp>
        <p:sp>
          <p:nvSpPr>
            <p:cNvPr id="137" name="Rectangle: Rounded Corners 72">
              <a:extLst>
                <a:ext uri="{FF2B5EF4-FFF2-40B4-BE49-F238E27FC236}">
                  <a16:creationId xmlns:a16="http://schemas.microsoft.com/office/drawing/2014/main" id="{95BD5232-33E4-4951-8DEF-9CA46B9CFC1A}"/>
                </a:ext>
              </a:extLst>
            </p:cNvPr>
            <p:cNvSpPr/>
            <p:nvPr/>
          </p:nvSpPr>
          <p:spPr>
            <a:xfrm>
              <a:off x="3451805" y="3559327"/>
              <a:ext cx="2445622" cy="1232635"/>
            </a:xfrm>
            <a:prstGeom prst="round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anose="020B0604020202020204" pitchFamily="34" charset="0"/>
                  <a:cs typeface="Arial" panose="020B0604020202020204" pitchFamily="34" charset="0"/>
                </a:rPr>
                <a:t>Drum Track Encoder</a:t>
              </a:r>
            </a:p>
          </p:txBody>
        </p:sp>
        <p:sp>
          <p:nvSpPr>
            <p:cNvPr id="138" name="Rectangle: Rounded Corners 73">
              <a:extLst>
                <a:ext uri="{FF2B5EF4-FFF2-40B4-BE49-F238E27FC236}">
                  <a16:creationId xmlns:a16="http://schemas.microsoft.com/office/drawing/2014/main" id="{906E0D66-60C5-4CC0-9490-D798FB170D32}"/>
                </a:ext>
              </a:extLst>
            </p:cNvPr>
            <p:cNvSpPr/>
            <p:nvPr/>
          </p:nvSpPr>
          <p:spPr>
            <a:xfrm>
              <a:off x="6552391" y="3607935"/>
              <a:ext cx="2684823" cy="1232635"/>
            </a:xfrm>
            <a:prstGeom prst="round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anose="020B0604020202020204" pitchFamily="34" charset="0"/>
                  <a:cs typeface="Arial" panose="020B0604020202020204" pitchFamily="34" charset="0"/>
                </a:rPr>
                <a:t>Target Track Decoder</a:t>
              </a:r>
            </a:p>
          </p:txBody>
        </p:sp>
        <p:sp>
          <p:nvSpPr>
            <p:cNvPr id="139" name="Right Arrow 10">
              <a:extLst>
                <a:ext uri="{FF2B5EF4-FFF2-40B4-BE49-F238E27FC236}">
                  <a16:creationId xmlns:a16="http://schemas.microsoft.com/office/drawing/2014/main" id="{8EA29C03-E2CE-48BD-B0FD-11BAEEC688E3}"/>
                </a:ext>
              </a:extLst>
            </p:cNvPr>
            <p:cNvSpPr/>
            <p:nvPr/>
          </p:nvSpPr>
          <p:spPr>
            <a:xfrm rot="2529522">
              <a:off x="2748534" y="3694081"/>
              <a:ext cx="554894" cy="298935"/>
            </a:xfrm>
            <a:prstGeom prst="rightArrow">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ight Arrow 11">
              <a:extLst>
                <a:ext uri="{FF2B5EF4-FFF2-40B4-BE49-F238E27FC236}">
                  <a16:creationId xmlns:a16="http://schemas.microsoft.com/office/drawing/2014/main" id="{60C353E9-8BEC-4595-8213-6BAF6EA6B067}"/>
                </a:ext>
              </a:extLst>
            </p:cNvPr>
            <p:cNvSpPr/>
            <p:nvPr/>
          </p:nvSpPr>
          <p:spPr>
            <a:xfrm>
              <a:off x="5972090" y="4045339"/>
              <a:ext cx="554894" cy="298935"/>
            </a:xfrm>
            <a:prstGeom prst="rightArrow">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1" name="Group 140">
              <a:extLst>
                <a:ext uri="{FF2B5EF4-FFF2-40B4-BE49-F238E27FC236}">
                  <a16:creationId xmlns:a16="http://schemas.microsoft.com/office/drawing/2014/main" id="{DFDF456B-DF59-4EE6-8075-C1BBB8337729}"/>
                </a:ext>
              </a:extLst>
            </p:cNvPr>
            <p:cNvGrpSpPr/>
            <p:nvPr/>
          </p:nvGrpSpPr>
          <p:grpSpPr>
            <a:xfrm>
              <a:off x="8702458" y="1556273"/>
              <a:ext cx="3823744" cy="2377213"/>
              <a:chOff x="8702458" y="1556273"/>
              <a:chExt cx="3823744" cy="2377213"/>
            </a:xfrm>
          </p:grpSpPr>
          <p:pic>
            <p:nvPicPr>
              <p:cNvPr id="142" name="Picture 141" descr="A picture containing chart&#10;&#10;Description automatically generated">
                <a:extLst>
                  <a:ext uri="{FF2B5EF4-FFF2-40B4-BE49-F238E27FC236}">
                    <a16:creationId xmlns:a16="http://schemas.microsoft.com/office/drawing/2014/main" id="{5A62D4CC-45FF-47DD-8038-F23542E2AB7F}"/>
                  </a:ext>
                </a:extLst>
              </p:cNvPr>
              <p:cNvPicPr>
                <a:picLocks noChangeAspect="1"/>
              </p:cNvPicPr>
              <p:nvPr/>
            </p:nvPicPr>
            <p:blipFill rotWithShape="1">
              <a:blip r:embed="rId18" cstate="print">
                <a:extLst>
                  <a:ext uri="{28A0092B-C50C-407E-A947-70E740481C1C}">
                    <a14:useLocalDpi xmlns:a14="http://schemas.microsoft.com/office/drawing/2010/main" val="0"/>
                  </a:ext>
                </a:extLst>
              </a:blip>
              <a:srcRect l="11460" t="3882" r="5035" b="38936"/>
              <a:stretch/>
            </p:blipFill>
            <p:spPr>
              <a:xfrm>
                <a:off x="9275186" y="1556273"/>
                <a:ext cx="2525092" cy="1206390"/>
              </a:xfrm>
              <a:prstGeom prst="rect">
                <a:avLst/>
              </a:prstGeom>
            </p:spPr>
          </p:pic>
          <p:sp>
            <p:nvSpPr>
              <p:cNvPr id="143" name="TextBox 142">
                <a:extLst>
                  <a:ext uri="{FF2B5EF4-FFF2-40B4-BE49-F238E27FC236}">
                    <a16:creationId xmlns:a16="http://schemas.microsoft.com/office/drawing/2014/main" id="{672696B4-611E-4531-A53F-91D4B764B513}"/>
                  </a:ext>
                </a:extLst>
              </p:cNvPr>
              <p:cNvSpPr txBox="1"/>
              <p:nvPr/>
            </p:nvSpPr>
            <p:spPr>
              <a:xfrm>
                <a:off x="8702458" y="2835928"/>
                <a:ext cx="3823744" cy="523220"/>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Multi Instrumental Midi</a:t>
                </a:r>
              </a:p>
            </p:txBody>
          </p:sp>
          <p:sp>
            <p:nvSpPr>
              <p:cNvPr id="144" name="Right Arrow 12">
                <a:extLst>
                  <a:ext uri="{FF2B5EF4-FFF2-40B4-BE49-F238E27FC236}">
                    <a16:creationId xmlns:a16="http://schemas.microsoft.com/office/drawing/2014/main" id="{E4A768EA-DEFF-46A3-9531-C4BD4CE60362}"/>
                  </a:ext>
                </a:extLst>
              </p:cNvPr>
              <p:cNvSpPr/>
              <p:nvPr/>
            </p:nvSpPr>
            <p:spPr>
              <a:xfrm rot="19674331">
                <a:off x="9374966" y="3634551"/>
                <a:ext cx="554894" cy="298935"/>
              </a:xfrm>
              <a:prstGeom prst="rightArrow">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aphicFrame>
        <p:nvGraphicFramePr>
          <p:cNvPr id="145" name="Table 22">
            <a:extLst>
              <a:ext uri="{FF2B5EF4-FFF2-40B4-BE49-F238E27FC236}">
                <a16:creationId xmlns:a16="http://schemas.microsoft.com/office/drawing/2014/main" id="{4D725170-E3CC-40A0-AA8C-26A96CE116EC}"/>
              </a:ext>
            </a:extLst>
          </p:cNvPr>
          <p:cNvGraphicFramePr>
            <a:graphicFrameLocks noGrp="1"/>
          </p:cNvGraphicFramePr>
          <p:nvPr>
            <p:extLst>
              <p:ext uri="{D42A27DB-BD31-4B8C-83A1-F6EECF244321}">
                <p14:modId xmlns:p14="http://schemas.microsoft.com/office/powerpoint/2010/main" val="778025157"/>
              </p:ext>
            </p:extLst>
          </p:nvPr>
        </p:nvGraphicFramePr>
        <p:xfrm>
          <a:off x="20994432" y="13869233"/>
          <a:ext cx="11165959" cy="2685258"/>
        </p:xfrm>
        <a:graphic>
          <a:graphicData uri="http://schemas.openxmlformats.org/drawingml/2006/table">
            <a:tbl>
              <a:tblPr firstRow="1" bandRow="1">
                <a:tableStyleId>{5940675A-B579-460E-94D1-54222C63F5DA}</a:tableStyleId>
              </a:tblPr>
              <a:tblGrid>
                <a:gridCol w="1536222">
                  <a:extLst>
                    <a:ext uri="{9D8B030D-6E8A-4147-A177-3AD203B41FA5}">
                      <a16:colId xmlns:a16="http://schemas.microsoft.com/office/drawing/2014/main" val="2512604916"/>
                    </a:ext>
                  </a:extLst>
                </a:gridCol>
                <a:gridCol w="1277468">
                  <a:extLst>
                    <a:ext uri="{9D8B030D-6E8A-4147-A177-3AD203B41FA5}">
                      <a16:colId xmlns:a16="http://schemas.microsoft.com/office/drawing/2014/main" val="710730184"/>
                    </a:ext>
                  </a:extLst>
                </a:gridCol>
                <a:gridCol w="2336800">
                  <a:extLst>
                    <a:ext uri="{9D8B030D-6E8A-4147-A177-3AD203B41FA5}">
                      <a16:colId xmlns:a16="http://schemas.microsoft.com/office/drawing/2014/main" val="162401505"/>
                    </a:ext>
                  </a:extLst>
                </a:gridCol>
                <a:gridCol w="1499582">
                  <a:extLst>
                    <a:ext uri="{9D8B030D-6E8A-4147-A177-3AD203B41FA5}">
                      <a16:colId xmlns:a16="http://schemas.microsoft.com/office/drawing/2014/main" val="3223615793"/>
                    </a:ext>
                  </a:extLst>
                </a:gridCol>
                <a:gridCol w="2150965">
                  <a:extLst>
                    <a:ext uri="{9D8B030D-6E8A-4147-A177-3AD203B41FA5}">
                      <a16:colId xmlns:a16="http://schemas.microsoft.com/office/drawing/2014/main" val="1205230077"/>
                    </a:ext>
                  </a:extLst>
                </a:gridCol>
                <a:gridCol w="2364922">
                  <a:extLst>
                    <a:ext uri="{9D8B030D-6E8A-4147-A177-3AD203B41FA5}">
                      <a16:colId xmlns:a16="http://schemas.microsoft.com/office/drawing/2014/main" val="1786196458"/>
                    </a:ext>
                  </a:extLst>
                </a:gridCol>
              </a:tblGrid>
              <a:tr h="602534">
                <a:tc gridSpan="3">
                  <a:txBody>
                    <a:bodyPr/>
                    <a:lstStyle/>
                    <a:p>
                      <a:pPr algn="ctr"/>
                      <a:r>
                        <a:rPr lang="en-US" sz="3000" dirty="0">
                          <a:latin typeface="+mn-ea"/>
                          <a:ea typeface="+mn-ea"/>
                          <a:cs typeface="Arial" panose="020B0604020202020204" pitchFamily="34" charset="0"/>
                        </a:rPr>
                        <a:t>Soundtrack match to video</a:t>
                      </a:r>
                    </a:p>
                  </a:txBody>
                  <a:tcPr/>
                </a:tc>
                <a:tc hMerge="1">
                  <a:txBody>
                    <a:bodyPr/>
                    <a:lstStyle/>
                    <a:p>
                      <a:pPr algn="l"/>
                      <a:endParaRPr lang="en-US" sz="1800" dirty="0"/>
                    </a:p>
                  </a:txBody>
                  <a:tcPr/>
                </a:tc>
                <a:tc hMerge="1">
                  <a:txBody>
                    <a:bodyPr/>
                    <a:lstStyle/>
                    <a:p>
                      <a:pPr algn="l"/>
                      <a:endParaRPr lang="en-US" sz="1800" dirty="0"/>
                    </a:p>
                  </a:txBody>
                  <a:tcPr/>
                </a:tc>
                <a:tc gridSpan="3">
                  <a:txBody>
                    <a:bodyPr/>
                    <a:lstStyle/>
                    <a:p>
                      <a:pPr algn="ctr"/>
                      <a:r>
                        <a:rPr lang="en-US" sz="3000" dirty="0"/>
                        <a:t>Soundtrack match to video (Ablation)</a:t>
                      </a:r>
                    </a:p>
                  </a:txBody>
                  <a:tcPr/>
                </a:tc>
                <a:tc hMerge="1">
                  <a:txBody>
                    <a:bodyPr/>
                    <a:lstStyle/>
                    <a:p>
                      <a:pPr algn="l"/>
                      <a:endParaRPr lang="en-US" sz="1800" dirty="0"/>
                    </a:p>
                  </a:txBody>
                  <a:tcPr/>
                </a:tc>
                <a:tc hMerge="1">
                  <a:txBody>
                    <a:bodyPr/>
                    <a:lstStyle/>
                    <a:p>
                      <a:pPr algn="l"/>
                      <a:endParaRPr lang="en-US" sz="1800" dirty="0"/>
                    </a:p>
                  </a:txBody>
                  <a:tcPr/>
                </a:tc>
                <a:extLst>
                  <a:ext uri="{0D108BD9-81ED-4DB2-BD59-A6C34878D82A}">
                    <a16:rowId xmlns:a16="http://schemas.microsoft.com/office/drawing/2014/main" val="2505547298"/>
                  </a:ext>
                </a:extLst>
              </a:tr>
              <a:tr h="0">
                <a:tc>
                  <a:txBody>
                    <a:bodyPr/>
                    <a:lstStyle/>
                    <a:p>
                      <a:pPr algn="l"/>
                      <a:r>
                        <a:rPr lang="en-US" sz="3000" dirty="0">
                          <a:latin typeface="+mn-lt"/>
                          <a:cs typeface="Arial" panose="020B0604020202020204" pitchFamily="34" charset="0"/>
                        </a:rPr>
                        <a:t>Random</a:t>
                      </a:r>
                    </a:p>
                  </a:txBody>
                  <a:tcPr/>
                </a:tc>
                <a:tc>
                  <a:txBody>
                    <a:bodyPr/>
                    <a:lstStyle/>
                    <a:p>
                      <a:pPr algn="l"/>
                      <a:r>
                        <a:rPr lang="en-US" sz="3000" dirty="0"/>
                        <a:t>Shuffle</a:t>
                      </a:r>
                    </a:p>
                  </a:txBody>
                  <a:tcPr/>
                </a:tc>
                <a:tc>
                  <a:txBody>
                    <a:bodyPr/>
                    <a:lstStyle/>
                    <a:p>
                      <a:pPr algn="l"/>
                      <a:r>
                        <a:rPr lang="en-US" sz="3000" dirty="0" err="1"/>
                        <a:t>RhythmicNet</a:t>
                      </a:r>
                      <a:endParaRPr lang="en-US" sz="3000" dirty="0"/>
                    </a:p>
                  </a:txBody>
                  <a:tcPr/>
                </a:tc>
                <a:tc>
                  <a:txBody>
                    <a:bodyPr/>
                    <a:lstStyle/>
                    <a:p>
                      <a:pPr algn="l"/>
                      <a:r>
                        <a:rPr lang="en-US" sz="3000" dirty="0" err="1"/>
                        <a:t>Random</a:t>
                      </a:r>
                      <a:r>
                        <a:rPr lang="en-US" altLang="zh-CN" sz="3000" dirty="0" err="1"/>
                        <a:t>+</a:t>
                      </a:r>
                      <a:r>
                        <a:rPr lang="en-US" sz="3000" dirty="0" err="1"/>
                        <a:t>GrooveVAE</a:t>
                      </a:r>
                      <a:endParaRPr lang="en-US" sz="3000" dirty="0"/>
                    </a:p>
                  </a:txBody>
                  <a:tcPr/>
                </a:tc>
                <a:tc>
                  <a:txBody>
                    <a:bodyPr/>
                    <a:lstStyle/>
                    <a:p>
                      <a:pPr algn="l"/>
                      <a:r>
                        <a:rPr lang="en-US" sz="3000" dirty="0"/>
                        <a:t>Video2Rhythm</a:t>
                      </a:r>
                      <a:r>
                        <a:rPr lang="en-US" altLang="zh-CN" sz="3000" dirty="0"/>
                        <a:t>+</a:t>
                      </a:r>
                      <a:r>
                        <a:rPr lang="en-US" sz="3000" dirty="0"/>
                        <a:t>GrooVAE</a:t>
                      </a:r>
                    </a:p>
                  </a:txBody>
                  <a:tcPr/>
                </a:tc>
                <a:tc>
                  <a:txBody>
                    <a:bodyPr/>
                    <a:lstStyle/>
                    <a:p>
                      <a:pPr algn="l"/>
                      <a:r>
                        <a:rPr lang="en-US" sz="3000" dirty="0"/>
                        <a:t>Video2Rhythm+Rhythm2Drum</a:t>
                      </a:r>
                    </a:p>
                  </a:txBody>
                  <a:tcPr/>
                </a:tc>
                <a:extLst>
                  <a:ext uri="{0D108BD9-81ED-4DB2-BD59-A6C34878D82A}">
                    <a16:rowId xmlns:a16="http://schemas.microsoft.com/office/drawing/2014/main" val="3306333765"/>
                  </a:ext>
                </a:extLst>
              </a:tr>
              <a:tr h="619684">
                <a:tc>
                  <a:txBody>
                    <a:bodyPr/>
                    <a:lstStyle/>
                    <a:p>
                      <a:pPr algn="l"/>
                      <a:r>
                        <a:rPr lang="en-US" sz="3000" dirty="0"/>
                        <a:t>30.8%</a:t>
                      </a:r>
                    </a:p>
                  </a:txBody>
                  <a:tcPr/>
                </a:tc>
                <a:tc>
                  <a:txBody>
                    <a:bodyPr/>
                    <a:lstStyle/>
                    <a:p>
                      <a:pPr algn="l"/>
                      <a:r>
                        <a:rPr lang="en-US" sz="3000" dirty="0"/>
                        <a:t>27.8%</a:t>
                      </a:r>
                    </a:p>
                  </a:txBody>
                  <a:tcPr/>
                </a:tc>
                <a:tc>
                  <a:txBody>
                    <a:bodyPr/>
                    <a:lstStyle/>
                    <a:p>
                      <a:pPr algn="l"/>
                      <a:r>
                        <a:rPr lang="en-US" sz="3000" b="1" dirty="0"/>
                        <a:t>41.4%</a:t>
                      </a:r>
                    </a:p>
                  </a:txBody>
                  <a:tcPr/>
                </a:tc>
                <a:tc>
                  <a:txBody>
                    <a:bodyPr/>
                    <a:lstStyle/>
                    <a:p>
                      <a:pPr algn="l"/>
                      <a:r>
                        <a:rPr lang="en-US" sz="3000" dirty="0"/>
                        <a:t>23.3%</a:t>
                      </a:r>
                    </a:p>
                  </a:txBody>
                  <a:tcPr/>
                </a:tc>
                <a:tc>
                  <a:txBody>
                    <a:bodyPr/>
                    <a:lstStyle/>
                    <a:p>
                      <a:pPr algn="l"/>
                      <a:r>
                        <a:rPr lang="en-US" sz="3000" dirty="0"/>
                        <a:t>33.3%</a:t>
                      </a:r>
                    </a:p>
                  </a:txBody>
                  <a:tcPr/>
                </a:tc>
                <a:tc>
                  <a:txBody>
                    <a:bodyPr/>
                    <a:lstStyle/>
                    <a:p>
                      <a:pPr algn="l"/>
                      <a:r>
                        <a:rPr lang="en-US" sz="3000" b="1" dirty="0"/>
                        <a:t>43.4%</a:t>
                      </a:r>
                    </a:p>
                  </a:txBody>
                  <a:tcPr/>
                </a:tc>
                <a:extLst>
                  <a:ext uri="{0D108BD9-81ED-4DB2-BD59-A6C34878D82A}">
                    <a16:rowId xmlns:a16="http://schemas.microsoft.com/office/drawing/2014/main" val="3394190497"/>
                  </a:ext>
                </a:extLst>
              </a:tr>
            </a:tbl>
          </a:graphicData>
        </a:graphic>
      </p:graphicFrame>
      <p:sp>
        <p:nvSpPr>
          <p:cNvPr id="3" name="Rectangle 2">
            <a:extLst>
              <a:ext uri="{FF2B5EF4-FFF2-40B4-BE49-F238E27FC236}">
                <a16:creationId xmlns:a16="http://schemas.microsoft.com/office/drawing/2014/main" id="{A5C8D419-B751-6145-895D-CB2F467FC90B}"/>
              </a:ext>
            </a:extLst>
          </p:cNvPr>
          <p:cNvSpPr/>
          <p:nvPr/>
        </p:nvSpPr>
        <p:spPr>
          <a:xfrm>
            <a:off x="496183" y="18655143"/>
            <a:ext cx="10170210" cy="2554545"/>
          </a:xfrm>
          <a:prstGeom prst="rect">
            <a:avLst/>
          </a:prstGeom>
        </p:spPr>
        <p:txBody>
          <a:bodyPr wrap="square">
            <a:spAutoFit/>
          </a:bodyPr>
          <a:lstStyle/>
          <a:p>
            <a:pPr lvl="0"/>
            <a:r>
              <a:rPr lang="en-US" sz="3200" b="1" dirty="0">
                <a:latin typeface="Arial" panose="020B0604020202020204" pitchFamily="34" charset="0"/>
                <a:cs typeface="Arial" panose="020B0604020202020204" pitchFamily="34" charset="0"/>
              </a:rPr>
              <a:t>Beat</a:t>
            </a:r>
            <a:r>
              <a:rPr lang="en-US" sz="3200" dirty="0">
                <a:latin typeface="Arial" panose="020B0604020202020204" pitchFamily="34" charset="0"/>
                <a:cs typeface="Arial" panose="020B0604020202020204" pitchFamily="34" charset="0"/>
              </a:rPr>
              <a:t>: Body </a:t>
            </a:r>
            <a:r>
              <a:rPr lang="en-US" sz="3200" dirty="0" err="1">
                <a:latin typeface="Arial" panose="020B0604020202020204" pitchFamily="34" charset="0"/>
                <a:cs typeface="Arial" panose="020B0604020202020204" pitchFamily="34" charset="0"/>
              </a:rPr>
              <a:t>keypoints</a:t>
            </a:r>
            <a:r>
              <a:rPr lang="en-US" sz="3200" dirty="0">
                <a:latin typeface="Arial" panose="020B0604020202020204" pitchFamily="34" charset="0"/>
                <a:cs typeface="Arial" panose="020B0604020202020204" pitchFamily="34" charset="0"/>
              </a:rPr>
              <a:t> from the video are transformed to a beat signal with a novel </a:t>
            </a:r>
            <a:r>
              <a:rPr lang="en-US" sz="3200" b="1" dirty="0" err="1">
                <a:latin typeface="Arial" panose="020B0604020202020204" pitchFamily="34" charset="0"/>
                <a:cs typeface="Arial" panose="020B0604020202020204" pitchFamily="34" charset="0"/>
              </a:rPr>
              <a:t>S</a:t>
            </a:r>
            <a:r>
              <a:rPr lang="en-US" sz="3200" dirty="0" err="1">
                <a:latin typeface="Arial" panose="020B0604020202020204" pitchFamily="34" charset="0"/>
                <a:cs typeface="Arial" panose="020B0604020202020204" pitchFamily="34" charset="0"/>
              </a:rPr>
              <a:t>patio</a:t>
            </a:r>
            <a:r>
              <a:rPr lang="en-US" sz="3200" b="1" dirty="0" err="1">
                <a:latin typeface="Arial" panose="020B0604020202020204" pitchFamily="34" charset="0"/>
                <a:cs typeface="Arial" panose="020B0604020202020204" pitchFamily="34" charset="0"/>
              </a:rPr>
              <a:t>T</a:t>
            </a:r>
            <a:r>
              <a:rPr lang="en-US" sz="3200" dirty="0" err="1">
                <a:latin typeface="Arial" panose="020B0604020202020204" pitchFamily="34" charset="0"/>
                <a:cs typeface="Arial" panose="020B0604020202020204" pitchFamily="34" charset="0"/>
              </a:rPr>
              <a:t>emporal</a:t>
            </a:r>
            <a:r>
              <a:rPr lang="en-US" sz="3200" dirty="0">
                <a:latin typeface="Arial" panose="020B0604020202020204" pitchFamily="34" charset="0"/>
                <a:cs typeface="Arial" panose="020B0604020202020204" pitchFamily="34" charset="0"/>
              </a:rPr>
              <a:t> </a:t>
            </a:r>
            <a:r>
              <a:rPr lang="en-US" sz="3200" b="1" dirty="0">
                <a:latin typeface="Arial" panose="020B0604020202020204" pitchFamily="34" charset="0"/>
                <a:cs typeface="Arial" panose="020B0604020202020204" pitchFamily="34" charset="0"/>
              </a:rPr>
              <a:t>G</a:t>
            </a:r>
            <a:r>
              <a:rPr lang="en-US" sz="3200" dirty="0">
                <a:latin typeface="Arial" panose="020B0604020202020204" pitchFamily="34" charset="0"/>
                <a:cs typeface="Arial" panose="020B0604020202020204" pitchFamily="34" charset="0"/>
              </a:rPr>
              <a:t>raph </a:t>
            </a:r>
            <a:r>
              <a:rPr lang="en-US" sz="3200" b="1" dirty="0">
                <a:latin typeface="Arial" panose="020B0604020202020204" pitchFamily="34" charset="0"/>
                <a:cs typeface="Arial" panose="020B0604020202020204" pitchFamily="34" charset="0"/>
              </a:rPr>
              <a:t>C</a:t>
            </a:r>
            <a:r>
              <a:rPr lang="en-US" sz="3200" dirty="0">
                <a:latin typeface="Arial" panose="020B0604020202020204" pitchFamily="34" charset="0"/>
                <a:cs typeface="Arial" panose="020B0604020202020204" pitchFamily="34" charset="0"/>
              </a:rPr>
              <a:t>onvolutional network in conjunction with </a:t>
            </a:r>
            <a:r>
              <a:rPr lang="en-US" sz="3200" b="1" dirty="0">
                <a:latin typeface="Arial" panose="020B0604020202020204" pitchFamily="34" charset="0"/>
                <a:cs typeface="Arial" panose="020B0604020202020204" pitchFamily="34" charset="0"/>
              </a:rPr>
              <a:t>T</a:t>
            </a:r>
            <a:r>
              <a:rPr lang="en-US" sz="3200" dirty="0">
                <a:latin typeface="Arial" panose="020B0604020202020204" pitchFamily="34" charset="0"/>
                <a:cs typeface="Arial" panose="020B0604020202020204" pitchFamily="34" charset="0"/>
              </a:rPr>
              <a:t>ransformer </a:t>
            </a:r>
            <a:r>
              <a:rPr lang="en-US" sz="3200" b="1" dirty="0">
                <a:latin typeface="Arial" panose="020B0604020202020204" pitchFamily="34" charset="0"/>
                <a:cs typeface="Arial" panose="020B0604020202020204" pitchFamily="34" charset="0"/>
              </a:rPr>
              <a:t>E</a:t>
            </a:r>
            <a:r>
              <a:rPr lang="en-US" sz="3200" dirty="0">
                <a:latin typeface="Arial" panose="020B0604020202020204" pitchFamily="34" charset="0"/>
                <a:cs typeface="Arial" panose="020B0604020202020204" pitchFamily="34" charset="0"/>
              </a:rPr>
              <a:t>ncoder. These network models capture motion features and translate them to musical  beat estimation.</a:t>
            </a:r>
          </a:p>
        </p:txBody>
      </p:sp>
      <p:sp>
        <p:nvSpPr>
          <p:cNvPr id="10" name="Rectangle 9">
            <a:extLst>
              <a:ext uri="{FF2B5EF4-FFF2-40B4-BE49-F238E27FC236}">
                <a16:creationId xmlns:a16="http://schemas.microsoft.com/office/drawing/2014/main" id="{0F8552A2-320C-4342-A43E-A4CE00399E06}"/>
              </a:ext>
            </a:extLst>
          </p:cNvPr>
          <p:cNvSpPr/>
          <p:nvPr/>
        </p:nvSpPr>
        <p:spPr>
          <a:xfrm>
            <a:off x="2084456" y="3521949"/>
            <a:ext cx="2284791" cy="2922701"/>
          </a:xfrm>
          <a:prstGeom prst="rect">
            <a:avLst/>
          </a:prstGeom>
          <a:noFill/>
          <a:ln w="38100" cap="flat">
            <a:solidFill>
              <a:schemeClr val="tx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326532"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mn-lt"/>
              <a:ea typeface="+mn-ea"/>
              <a:cs typeface="+mn-cs"/>
              <a:sym typeface="Calibri"/>
            </a:endParaRPr>
          </a:p>
        </p:txBody>
      </p:sp>
      <p:sp>
        <p:nvSpPr>
          <p:cNvPr id="117" name="Rectangle 116">
            <a:extLst>
              <a:ext uri="{FF2B5EF4-FFF2-40B4-BE49-F238E27FC236}">
                <a16:creationId xmlns:a16="http://schemas.microsoft.com/office/drawing/2014/main" id="{37B6AD45-6C36-C446-B4A6-807C58838231}"/>
              </a:ext>
            </a:extLst>
          </p:cNvPr>
          <p:cNvSpPr/>
          <p:nvPr/>
        </p:nvSpPr>
        <p:spPr>
          <a:xfrm>
            <a:off x="17094807" y="3587388"/>
            <a:ext cx="2508599" cy="2913400"/>
          </a:xfrm>
          <a:prstGeom prst="rect">
            <a:avLst/>
          </a:prstGeom>
          <a:noFill/>
          <a:ln w="38100" cap="flat">
            <a:solidFill>
              <a:schemeClr val="tx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326532"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mn-lt"/>
              <a:ea typeface="+mn-ea"/>
              <a:cs typeface="+mn-cs"/>
              <a:sym typeface="Calibri"/>
            </a:endParaRPr>
          </a:p>
        </p:txBody>
      </p:sp>
      <p:pic>
        <p:nvPicPr>
          <p:cNvPr id="16" name="Picture 15">
            <a:extLst>
              <a:ext uri="{FF2B5EF4-FFF2-40B4-BE49-F238E27FC236}">
                <a16:creationId xmlns:a16="http://schemas.microsoft.com/office/drawing/2014/main" id="{B83C0935-C128-7D41-AA20-AEC607E1A4B1}"/>
              </a:ext>
            </a:extLst>
          </p:cNvPr>
          <p:cNvPicPr>
            <a:picLocks noChangeAspect="1"/>
          </p:cNvPicPr>
          <p:nvPr/>
        </p:nvPicPr>
        <p:blipFill>
          <a:blip r:embed="rId19">
            <a:clrChange>
              <a:clrFrom>
                <a:srgbClr val="FFFFFF"/>
              </a:clrFrom>
              <a:clrTo>
                <a:srgbClr val="FFFFFF">
                  <a:alpha val="0"/>
                </a:srgbClr>
              </a:clrTo>
            </a:clrChange>
          </a:blip>
          <a:stretch>
            <a:fillRect/>
          </a:stretch>
        </p:blipFill>
        <p:spPr>
          <a:xfrm>
            <a:off x="16929313" y="2921613"/>
            <a:ext cx="2791394" cy="2185764"/>
          </a:xfrm>
          <a:prstGeom prst="rect">
            <a:avLst/>
          </a:prstGeom>
        </p:spPr>
      </p:pic>
      <p:pic>
        <p:nvPicPr>
          <p:cNvPr id="147" name="Picture 146">
            <a:extLst>
              <a:ext uri="{FF2B5EF4-FFF2-40B4-BE49-F238E27FC236}">
                <a16:creationId xmlns:a16="http://schemas.microsoft.com/office/drawing/2014/main" id="{B7D85311-333C-6C4E-91B6-6B56DB24251B}"/>
              </a:ext>
            </a:extLst>
          </p:cNvPr>
          <p:cNvPicPr>
            <a:picLocks noChangeAspect="1"/>
          </p:cNvPicPr>
          <p:nvPr/>
        </p:nvPicPr>
        <p:blipFill>
          <a:blip r:embed="rId20"/>
          <a:stretch>
            <a:fillRect/>
          </a:stretch>
        </p:blipFill>
        <p:spPr>
          <a:xfrm>
            <a:off x="21024640" y="17246321"/>
            <a:ext cx="11397577" cy="3419297"/>
          </a:xfrm>
          <a:prstGeom prst="rect">
            <a:avLst/>
          </a:prstGeom>
        </p:spPr>
      </p:pic>
      <p:sp>
        <p:nvSpPr>
          <p:cNvPr id="8" name="Rectangle 7">
            <a:extLst>
              <a:ext uri="{FF2B5EF4-FFF2-40B4-BE49-F238E27FC236}">
                <a16:creationId xmlns:a16="http://schemas.microsoft.com/office/drawing/2014/main" id="{E7D18F68-21E5-2346-ACF0-AAFB1E400684}"/>
              </a:ext>
            </a:extLst>
          </p:cNvPr>
          <p:cNvSpPr/>
          <p:nvPr/>
        </p:nvSpPr>
        <p:spPr>
          <a:xfrm>
            <a:off x="21523571" y="20671262"/>
            <a:ext cx="10674717" cy="1200329"/>
          </a:xfrm>
          <a:prstGeom prst="rect">
            <a:avLst/>
          </a:prstGeom>
        </p:spPr>
        <p:txBody>
          <a:bodyPr wrap="none">
            <a:spAutoFit/>
          </a:bodyPr>
          <a:lstStyle/>
          <a:p>
            <a:r>
              <a:rPr lang="en-US" sz="3600" b="1" dirty="0">
                <a:latin typeface="Arial" panose="020B0604020202020204" pitchFamily="34" charset="0"/>
                <a:cs typeface="Arial" panose="020B0604020202020204" pitchFamily="34" charset="0"/>
              </a:rPr>
              <a:t>Visit our poster to see and listen to examples!</a:t>
            </a:r>
          </a:p>
          <a:p>
            <a:r>
              <a:rPr lang="en-US" sz="3600" b="1" dirty="0">
                <a:latin typeface="Arial" panose="020B0604020202020204" pitchFamily="34" charset="0"/>
                <a:cs typeface="Arial" panose="020B0604020202020204" pitchFamily="34" charset="0"/>
              </a:rPr>
              <a:t>Also at: </a:t>
            </a:r>
            <a:r>
              <a:rPr lang="en-US" sz="3600" b="1" dirty="0">
                <a:solidFill>
                  <a:srgbClr val="0000FF"/>
                </a:solidFill>
                <a:latin typeface="Arial" panose="020B0604020202020204" pitchFamily="34" charset="0"/>
                <a:cs typeface="Arial" panose="020B0604020202020204" pitchFamily="34" charset="0"/>
              </a:rPr>
              <a:t>https://</a:t>
            </a:r>
            <a:r>
              <a:rPr lang="en-US" sz="3600" b="1" dirty="0" err="1">
                <a:solidFill>
                  <a:srgbClr val="0000FF"/>
                </a:solidFill>
                <a:latin typeface="Arial" panose="020B0604020202020204" pitchFamily="34" charset="0"/>
                <a:cs typeface="Arial" panose="020B0604020202020204" pitchFamily="34" charset="0"/>
              </a:rPr>
              <a:t>github.com</a:t>
            </a:r>
            <a:r>
              <a:rPr lang="en-US" sz="3600" b="1" dirty="0">
                <a:solidFill>
                  <a:srgbClr val="0000FF"/>
                </a:solidFill>
                <a:latin typeface="Arial" panose="020B0604020202020204" pitchFamily="34" charset="0"/>
                <a:cs typeface="Arial" panose="020B0604020202020204" pitchFamily="34" charset="0"/>
              </a:rPr>
              <a:t>/</a:t>
            </a:r>
            <a:r>
              <a:rPr lang="en-US" sz="3600" b="1" dirty="0" err="1">
                <a:solidFill>
                  <a:srgbClr val="0000FF"/>
                </a:solidFill>
                <a:latin typeface="Arial" panose="020B0604020202020204" pitchFamily="34" charset="0"/>
                <a:cs typeface="Arial" panose="020B0604020202020204" pitchFamily="34" charset="0"/>
              </a:rPr>
              <a:t>shlizee</a:t>
            </a:r>
            <a:r>
              <a:rPr lang="en-US" sz="3600" b="1" dirty="0">
                <a:solidFill>
                  <a:srgbClr val="0000FF"/>
                </a:solidFill>
                <a:latin typeface="Arial" panose="020B0604020202020204" pitchFamily="34" charset="0"/>
                <a:cs typeface="Arial" panose="020B0604020202020204" pitchFamily="34" charset="0"/>
              </a:rPr>
              <a:t>/</a:t>
            </a:r>
            <a:r>
              <a:rPr lang="en-US" sz="3600" b="1" dirty="0" err="1">
                <a:solidFill>
                  <a:srgbClr val="0000FF"/>
                </a:solidFill>
                <a:latin typeface="Arial" panose="020B0604020202020204" pitchFamily="34" charset="0"/>
                <a:cs typeface="Arial" panose="020B0604020202020204" pitchFamily="34" charset="0"/>
              </a:rPr>
              <a:t>RhythmicNet</a:t>
            </a:r>
            <a:endParaRPr lang="en-US" sz="1400" b="1" dirty="0">
              <a:solidFill>
                <a:srgbClr val="0000FF"/>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afterEffect">
                                  <p:stCondLst>
                                    <p:cond delay="0"/>
                                  </p:stCondLst>
                                  <p:childTnLst>
                                    <p:animMotion origin="layout" path="M 3.7037E-7 -1.73611E-6 L 3.7037E-7 0.25 " pathEditMode="relative" rAng="0" ptsTypes="AA">
                                      <p:cBhvr>
                                        <p:cTn id="6" dur="2000" fill="hold"/>
                                        <p:tgtEl>
                                          <p:spTgt spid="91"/>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Lst>
  </p:timing>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377</TotalTime>
  <Words>457</Words>
  <Application>Microsoft Office PowerPoint</Application>
  <PresentationFormat>Custom</PresentationFormat>
  <Paragraphs>72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Eurostile</vt: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苏堃</dc:creator>
  <cp:lastModifiedBy>Jimin Kim</cp:lastModifiedBy>
  <cp:revision>36</cp:revision>
  <dcterms:modified xsi:type="dcterms:W3CDTF">2022-06-01T04:06:11Z</dcterms:modified>
</cp:coreProperties>
</file>