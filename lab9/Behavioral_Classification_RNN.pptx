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3"/>
  </p:handoutMasterIdLst>
  <p:sldIdLst>
    <p:sldId id="257" r:id="rId2"/>
  </p:sldIdLst>
  <p:sldSz cx="29260800" cy="34747200"/>
  <p:notesSz cx="31151513" cy="524383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7200" kern="1200">
        <a:solidFill>
          <a:schemeClr val="tx1"/>
        </a:solidFill>
        <a:latin typeface="Arquitectura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7200" kern="1200">
        <a:solidFill>
          <a:schemeClr val="tx1"/>
        </a:solidFill>
        <a:latin typeface="Arquitectura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7200" kern="1200">
        <a:solidFill>
          <a:schemeClr val="tx1"/>
        </a:solidFill>
        <a:latin typeface="Arquitectura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7200" kern="1200">
        <a:solidFill>
          <a:schemeClr val="tx1"/>
        </a:solidFill>
        <a:latin typeface="Arquitectura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7200" kern="1200">
        <a:solidFill>
          <a:schemeClr val="tx1"/>
        </a:solidFill>
        <a:latin typeface="Arquitectura" pitchFamily="18" charset="0"/>
        <a:ea typeface="+mn-ea"/>
        <a:cs typeface="+mn-cs"/>
      </a:defRPr>
    </a:lvl5pPr>
    <a:lvl6pPr marL="2286000" algn="l" defTabSz="457200" rtl="0" eaLnBrk="1" latinLnBrk="0" hangingPunct="1">
      <a:defRPr sz="7200" kern="1200">
        <a:solidFill>
          <a:schemeClr val="tx1"/>
        </a:solidFill>
        <a:latin typeface="Arquitectura" pitchFamily="18" charset="0"/>
        <a:ea typeface="+mn-ea"/>
        <a:cs typeface="+mn-cs"/>
      </a:defRPr>
    </a:lvl6pPr>
    <a:lvl7pPr marL="2743200" algn="l" defTabSz="457200" rtl="0" eaLnBrk="1" latinLnBrk="0" hangingPunct="1">
      <a:defRPr sz="7200" kern="1200">
        <a:solidFill>
          <a:schemeClr val="tx1"/>
        </a:solidFill>
        <a:latin typeface="Arquitectura" pitchFamily="18" charset="0"/>
        <a:ea typeface="+mn-ea"/>
        <a:cs typeface="+mn-cs"/>
      </a:defRPr>
    </a:lvl7pPr>
    <a:lvl8pPr marL="3200400" algn="l" defTabSz="457200" rtl="0" eaLnBrk="1" latinLnBrk="0" hangingPunct="1">
      <a:defRPr sz="7200" kern="1200">
        <a:solidFill>
          <a:schemeClr val="tx1"/>
        </a:solidFill>
        <a:latin typeface="Arquitectura" pitchFamily="18" charset="0"/>
        <a:ea typeface="+mn-ea"/>
        <a:cs typeface="+mn-cs"/>
      </a:defRPr>
    </a:lvl8pPr>
    <a:lvl9pPr marL="3657600" algn="l" defTabSz="457200" rtl="0" eaLnBrk="1" latinLnBrk="0" hangingPunct="1">
      <a:defRPr sz="7200" kern="1200">
        <a:solidFill>
          <a:schemeClr val="tx1"/>
        </a:solidFill>
        <a:latin typeface="Arquitectura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944">
          <p15:clr>
            <a:srgbClr val="A4A3A4"/>
          </p15:clr>
        </p15:guide>
        <p15:guide id="2" pos="92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858D"/>
    <a:srgbClr val="10E824"/>
    <a:srgbClr val="C084F0"/>
    <a:srgbClr val="C78979"/>
    <a:srgbClr val="FFC9E2"/>
    <a:srgbClr val="0489FF"/>
    <a:srgbClr val="E14EFF"/>
    <a:srgbClr val="361D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93" autoAdjust="0"/>
    <p:restoredTop sz="50000" autoAdjust="0"/>
  </p:normalViewPr>
  <p:slideViewPr>
    <p:cSldViewPr>
      <p:cViewPr varScale="1">
        <p:scale>
          <a:sx n="20" d="100"/>
          <a:sy n="20" d="100"/>
        </p:scale>
        <p:origin x="2928" y="52"/>
      </p:cViewPr>
      <p:guideLst>
        <p:guide orient="horz" pos="10944"/>
        <p:guide pos="92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3496925" cy="261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77602" tIns="238804" rIns="477602" bIns="238804" numCol="1" anchor="t" anchorCtr="0" compatLnSpc="1">
            <a:prstTxWarp prst="textNoShape">
              <a:avLst/>
            </a:prstTxWarp>
          </a:bodyPr>
          <a:lstStyle>
            <a:lvl1pPr defTabSz="4776788">
              <a:defRPr sz="6100">
                <a:latin typeface="Tiepolo Black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7654588" y="0"/>
            <a:ext cx="13496925" cy="261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77602" tIns="238804" rIns="477602" bIns="238804" numCol="1" anchor="t" anchorCtr="0" compatLnSpc="1">
            <a:prstTxWarp prst="textNoShape">
              <a:avLst/>
            </a:prstTxWarp>
          </a:bodyPr>
          <a:lstStyle>
            <a:lvl1pPr algn="r" defTabSz="4776788">
              <a:defRPr sz="6100">
                <a:latin typeface="Tiepolo Black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49820513"/>
            <a:ext cx="13496925" cy="2617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77602" tIns="238804" rIns="477602" bIns="238804" numCol="1" anchor="b" anchorCtr="0" compatLnSpc="1">
            <a:prstTxWarp prst="textNoShape">
              <a:avLst/>
            </a:prstTxWarp>
          </a:bodyPr>
          <a:lstStyle>
            <a:lvl1pPr defTabSz="4776788">
              <a:defRPr sz="6100">
                <a:latin typeface="Tiepolo Black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7654588" y="49820513"/>
            <a:ext cx="13496925" cy="2617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77602" tIns="238804" rIns="477602" bIns="238804" numCol="1" anchor="b" anchorCtr="0" compatLnSpc="1">
            <a:prstTxWarp prst="textNoShape">
              <a:avLst/>
            </a:prstTxWarp>
          </a:bodyPr>
          <a:lstStyle>
            <a:lvl1pPr algn="r" defTabSz="4776788">
              <a:defRPr sz="6100">
                <a:latin typeface="Tiepolo Black" pitchFamily="18" charset="0"/>
              </a:defRPr>
            </a:lvl1pPr>
          </a:lstStyle>
          <a:p>
            <a:pPr>
              <a:defRPr/>
            </a:pPr>
            <a:fld id="{50AC09AA-125D-5D4A-A031-744D86514D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9364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4560" y="10794406"/>
            <a:ext cx="24871680" cy="74482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89120" y="19690461"/>
            <a:ext cx="20482560" cy="8879086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AF2B3E-D748-154E-8D57-D78AA5D094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1C9F1-4200-274B-9A71-5407780DE8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1399" y="22327790"/>
            <a:ext cx="24871680" cy="690155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11399" y="14726842"/>
            <a:ext cx="24871680" cy="76009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DC03CF-D0A3-7A47-A58E-2DA7D735CF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561" y="10044113"/>
            <a:ext cx="12374880" cy="20842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691361" y="10044113"/>
            <a:ext cx="12376150" cy="20842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99F59D-CA60-E641-BDA6-9643041968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0" y="1391245"/>
            <a:ext cx="26334720" cy="5791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7778156"/>
            <a:ext cx="12928601" cy="324058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63040" y="11018739"/>
            <a:ext cx="12928601" cy="200203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864080" y="7778156"/>
            <a:ext cx="12933680" cy="324058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864080" y="11018739"/>
            <a:ext cx="12933680" cy="200203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4BDC17-9ED0-AC4A-AE8A-8B59199BAD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A9D418-23FB-694F-B659-C4F3F92E8D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EB1B17-2002-DF48-8FE3-6D231A288A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1" y="1383707"/>
            <a:ext cx="9626599" cy="588734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40161" y="1383706"/>
            <a:ext cx="16357600" cy="296553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63041" y="7271049"/>
            <a:ext cx="9626599" cy="237680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CC1ACD-21AD-4348-ACDB-0E8A6B9B16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5321" y="24322286"/>
            <a:ext cx="17556480" cy="287297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735321" y="3104854"/>
            <a:ext cx="17556480" cy="2084794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35321" y="27195265"/>
            <a:ext cx="17556480" cy="4077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1810F5-8C90-DE4E-901A-C67D84FA3F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A25DB1-7660-F648-8D5E-2CA9774330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849590" y="3091657"/>
            <a:ext cx="6217920" cy="277947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560" y="3091657"/>
            <a:ext cx="18533110" cy="277947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3DAD56-B85D-8543-8375-503383627E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94380" y="3091657"/>
            <a:ext cx="24872949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94380" y="10044113"/>
            <a:ext cx="24872949" cy="2084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94379" y="31655545"/>
            <a:ext cx="6096000" cy="2322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998529" y="31655545"/>
            <a:ext cx="9264651" cy="2322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971329" y="31655545"/>
            <a:ext cx="6096000" cy="2322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1100B8BB-C319-9944-8B4A-9AEE953B45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4B7593C0-575C-2049-B1A4-7E5254300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22703548"/>
            <a:ext cx="3820513" cy="31837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297100-C0BA-9141-915F-9BA4685AD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5815207"/>
            <a:ext cx="10134600" cy="6803848"/>
          </a:xfrm>
          <a:prstGeom prst="rect">
            <a:avLst/>
          </a:prstGeom>
        </p:spPr>
      </p:pic>
      <p:sp>
        <p:nvSpPr>
          <p:cNvPr id="3" name="Line 13"/>
          <p:cNvSpPr>
            <a:spLocks noChangeShapeType="1"/>
          </p:cNvSpPr>
          <p:nvPr/>
        </p:nvSpPr>
        <p:spPr bwMode="auto">
          <a:xfrm>
            <a:off x="1" y="-344826"/>
            <a:ext cx="304800" cy="0"/>
          </a:xfrm>
          <a:prstGeom prst="line">
            <a:avLst/>
          </a:prstGeom>
          <a:noFill/>
          <a:ln w="3175">
            <a:solidFill>
              <a:schemeClr val="bg2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4" name="Line 14"/>
          <p:cNvSpPr>
            <a:spLocks noChangeShapeType="1"/>
          </p:cNvSpPr>
          <p:nvPr/>
        </p:nvSpPr>
        <p:spPr bwMode="auto">
          <a:xfrm>
            <a:off x="29260800" y="-346709"/>
            <a:ext cx="0" cy="290314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>
            <a:off x="28956001" y="-346711"/>
            <a:ext cx="3048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3" name="Line 18"/>
          <p:cNvSpPr>
            <a:spLocks noChangeShapeType="1"/>
          </p:cNvSpPr>
          <p:nvPr/>
        </p:nvSpPr>
        <p:spPr bwMode="auto">
          <a:xfrm>
            <a:off x="50901600" y="35379025"/>
            <a:ext cx="0" cy="242888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4" name="Line 19"/>
          <p:cNvSpPr>
            <a:spLocks noChangeShapeType="1"/>
          </p:cNvSpPr>
          <p:nvPr/>
        </p:nvSpPr>
        <p:spPr bwMode="auto">
          <a:xfrm>
            <a:off x="50368200" y="35621913"/>
            <a:ext cx="5334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7" name="Rectangle 1056"/>
          <p:cNvSpPr/>
          <p:nvPr/>
        </p:nvSpPr>
        <p:spPr>
          <a:xfrm>
            <a:off x="-1981200" y="381000"/>
            <a:ext cx="33375600" cy="2831516"/>
          </a:xfrm>
          <a:prstGeom prst="rect">
            <a:avLst/>
          </a:prstGeom>
        </p:spPr>
        <p:txBody>
          <a:bodyPr wrap="square" lIns="91410" tIns="45706" rIns="91410" bIns="45706">
            <a:spAutoFit/>
          </a:bodyPr>
          <a:lstStyle/>
          <a:p>
            <a:pPr algn="ctr" defTabSz="914108"/>
            <a:r>
              <a:rPr lang="en-US" sz="5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Classification of Behaviors using Posture Features in </a:t>
            </a:r>
            <a:r>
              <a:rPr lang="en-US" sz="5400" b="1" i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C.elegans</a:t>
            </a: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Behavioral Database</a:t>
            </a:r>
            <a:br>
              <a:rPr lang="en-US" sz="52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US" sz="4400" dirty="0">
                <a:latin typeface="Arial" pitchFamily="34" charset="0"/>
                <a:cs typeface="Arial" pitchFamily="34" charset="0"/>
              </a:rPr>
              <a:t>Jimin Kim</a:t>
            </a:r>
            <a:r>
              <a:rPr lang="en-US" sz="4400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4400" dirty="0">
                <a:latin typeface="Arial" pitchFamily="34" charset="0"/>
                <a:cs typeface="Arial" pitchFamily="34" charset="0"/>
              </a:rPr>
              <a:t>, Rahul Biswas</a:t>
            </a:r>
            <a:r>
              <a:rPr lang="en-US" sz="4400" baseline="30000" dirty="0">
                <a:latin typeface="Arial" pitchFamily="34" charset="0"/>
                <a:cs typeface="Arial" pitchFamily="34" charset="0"/>
              </a:rPr>
              <a:t>1</a:t>
            </a:r>
            <a:endParaRPr lang="en-US" sz="4800" dirty="0">
              <a:latin typeface="Arial" pitchFamily="34" charset="0"/>
              <a:cs typeface="Arial" pitchFamily="34" charset="0"/>
            </a:endParaRPr>
          </a:p>
          <a:p>
            <a:pPr algn="ctr" defTabSz="914108"/>
            <a:r>
              <a:rPr lang="en-US" sz="32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600" b="1" baseline="30000" dirty="0">
                <a:latin typeface="Arial" pitchFamily="34" charset="0"/>
                <a:cs typeface="Arial" pitchFamily="34" charset="0"/>
              </a:rPr>
              <a:t>1 </a:t>
            </a:r>
            <a:r>
              <a:rPr lang="en-US" sz="3600" b="1" dirty="0">
                <a:latin typeface="Arial" pitchFamily="34" charset="0"/>
                <a:cs typeface="Arial" pitchFamily="34" charset="0"/>
              </a:rPr>
              <a:t>Department of Statistics, University of Washington, </a:t>
            </a:r>
            <a:r>
              <a:rPr lang="en-US" sz="3600" b="1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3600" b="1" dirty="0">
                <a:latin typeface="Arial" pitchFamily="34" charset="0"/>
                <a:cs typeface="Arial" pitchFamily="34" charset="0"/>
              </a:rPr>
              <a:t> Department of Electrical and Computer Engineering, University of Washington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  <a:p>
            <a:pPr defTabSz="914108"/>
            <a:endParaRPr lang="en-US" sz="4400" b="1" dirty="0">
              <a:cs typeface="Calibri"/>
            </a:endParaRPr>
          </a:p>
        </p:txBody>
      </p:sp>
      <p:cxnSp>
        <p:nvCxnSpPr>
          <p:cNvPr id="1069" name="Straight Connector 1068"/>
          <p:cNvCxnSpPr/>
          <p:nvPr/>
        </p:nvCxnSpPr>
        <p:spPr>
          <a:xfrm flipV="1">
            <a:off x="14630400" y="2971800"/>
            <a:ext cx="0" cy="316992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Rectangle 36"/>
          <p:cNvSpPr>
            <a:spLocks noChangeArrowheads="1"/>
          </p:cNvSpPr>
          <p:nvPr/>
        </p:nvSpPr>
        <p:spPr bwMode="auto">
          <a:xfrm>
            <a:off x="304799" y="19373671"/>
            <a:ext cx="12649201" cy="923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0" tIns="45706" rIns="91410" bIns="45706">
            <a:spAutoFit/>
          </a:bodyPr>
          <a:lstStyle/>
          <a:p>
            <a:r>
              <a:rPr lang="en-US" sz="5400" b="1" i="1" dirty="0" err="1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C.elegans</a:t>
            </a: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 Behavioral Database</a:t>
            </a:r>
          </a:p>
        </p:txBody>
      </p:sp>
      <p:sp>
        <p:nvSpPr>
          <p:cNvPr id="555" name="Rectangle 36"/>
          <p:cNvSpPr>
            <a:spLocks noChangeArrowheads="1"/>
          </p:cNvSpPr>
          <p:nvPr/>
        </p:nvSpPr>
        <p:spPr bwMode="auto">
          <a:xfrm>
            <a:off x="152400" y="3219271"/>
            <a:ext cx="4267200" cy="923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0" tIns="45706" rIns="91410" bIns="45706">
            <a:spAutoFit/>
          </a:bodyPr>
          <a:lstStyle/>
          <a:p>
            <a:pPr algn="ctr"/>
            <a:r>
              <a:rPr lang="en-US" sz="5400" b="1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Introduction</a:t>
            </a:r>
          </a:p>
        </p:txBody>
      </p:sp>
      <p:sp>
        <p:nvSpPr>
          <p:cNvPr id="245" name="Rectangle 615"/>
          <p:cNvSpPr/>
          <p:nvPr/>
        </p:nvSpPr>
        <p:spPr>
          <a:xfrm>
            <a:off x="14706600" y="33318271"/>
            <a:ext cx="14554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</a:rPr>
              <a:t>References</a:t>
            </a:r>
          </a:p>
          <a:p>
            <a:r>
              <a:rPr lang="en-US" sz="2400" b="1" dirty="0">
                <a:solidFill>
                  <a:srgbClr val="000000"/>
                </a:solidFill>
              </a:rPr>
              <a:t>[1] </a:t>
            </a:r>
            <a:r>
              <a:rPr lang="en-US" sz="2400" dirty="0"/>
              <a:t>Yemini, E., </a:t>
            </a:r>
            <a:r>
              <a:rPr lang="en-US" sz="2400" dirty="0" err="1"/>
              <a:t>Jucikas</a:t>
            </a:r>
            <a:r>
              <a:rPr lang="en-US" sz="2400" dirty="0"/>
              <a:t>, T., Grundy, L. J., Brown, A. E., &amp; Schafer, W. R. (2013). A database of </a:t>
            </a:r>
            <a:r>
              <a:rPr lang="en-US" sz="2400" dirty="0" err="1"/>
              <a:t>Caenorhabditis</a:t>
            </a:r>
            <a:r>
              <a:rPr lang="en-US" sz="2400" dirty="0"/>
              <a:t> </a:t>
            </a:r>
            <a:r>
              <a:rPr lang="en-US" sz="2400" dirty="0" err="1"/>
              <a:t>elegans</a:t>
            </a:r>
            <a:r>
              <a:rPr lang="en-US" sz="2400" dirty="0"/>
              <a:t> behavioral phenotypes. </a:t>
            </a:r>
            <a:r>
              <a:rPr lang="en-US" sz="2400" i="1" dirty="0"/>
              <a:t>Nature methods</a:t>
            </a:r>
            <a:r>
              <a:rPr lang="en-US" sz="2400" dirty="0"/>
              <a:t>, </a:t>
            </a:r>
            <a:r>
              <a:rPr lang="en-US" sz="2400" i="1" dirty="0"/>
              <a:t>10</a:t>
            </a:r>
            <a:r>
              <a:rPr lang="en-US" sz="2400" dirty="0"/>
              <a:t>(9), 877.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247" name="Rectangle 36"/>
          <p:cNvSpPr>
            <a:spLocks noChangeArrowheads="1"/>
          </p:cNvSpPr>
          <p:nvPr/>
        </p:nvSpPr>
        <p:spPr bwMode="auto">
          <a:xfrm>
            <a:off x="14935200" y="3286570"/>
            <a:ext cx="8778465" cy="923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0" tIns="45706" rIns="91410" bIns="45706">
            <a:spAutoFit/>
          </a:bodyPr>
          <a:lstStyle/>
          <a:p>
            <a:r>
              <a:rPr lang="en-US" sz="5400" b="1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ANN Architecture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7C3753-E529-7840-92B2-64F343DAC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0" y="6174260"/>
            <a:ext cx="11199280" cy="6341411"/>
          </a:xfrm>
          <a:prstGeom prst="rect">
            <a:avLst/>
          </a:prstGeom>
        </p:spPr>
      </p:pic>
      <p:sp>
        <p:nvSpPr>
          <p:cNvPr id="339" name="Rectangle 36"/>
          <p:cNvSpPr>
            <a:spLocks noChangeArrowheads="1"/>
          </p:cNvSpPr>
          <p:nvPr/>
        </p:nvSpPr>
        <p:spPr bwMode="auto">
          <a:xfrm>
            <a:off x="14919735" y="13734871"/>
            <a:ext cx="8778465" cy="923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0" tIns="45706" rIns="91410" bIns="45706">
            <a:spAutoFit/>
          </a:bodyPr>
          <a:lstStyle/>
          <a:p>
            <a:r>
              <a:rPr lang="en-US" sz="5400" b="1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Results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E7261D7-0F99-0E47-9F42-73B4D79B35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22700369"/>
            <a:ext cx="3820513" cy="318376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A712DB1-F554-B54A-BA77-6861C9A073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22650271"/>
            <a:ext cx="3820513" cy="318376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E951D9C-0D16-7A41-AA05-C0C3418777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22650271"/>
            <a:ext cx="3820513" cy="3183761"/>
          </a:xfrm>
          <a:prstGeom prst="rect">
            <a:avLst/>
          </a:prstGeom>
        </p:spPr>
      </p:pic>
      <p:pic>
        <p:nvPicPr>
          <p:cNvPr id="28" name="그림 27" descr="groundtruth.PNG"/>
          <p:cNvPicPr>
            <a:picLocks noChangeAspect="1"/>
          </p:cNvPicPr>
          <p:nvPr/>
        </p:nvPicPr>
        <p:blipFill>
          <a:blip r:embed="rId8"/>
          <a:srcRect t="13850"/>
          <a:stretch>
            <a:fillRect/>
          </a:stretch>
        </p:blipFill>
        <p:spPr>
          <a:xfrm>
            <a:off x="14860181" y="17915453"/>
            <a:ext cx="6933019" cy="2536761"/>
          </a:xfrm>
          <a:prstGeom prst="rect">
            <a:avLst/>
          </a:prstGeom>
        </p:spPr>
      </p:pic>
      <p:pic>
        <p:nvPicPr>
          <p:cNvPr id="29" name="그림 28" descr="Los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211694" y="18397478"/>
            <a:ext cx="5591906" cy="4645909"/>
          </a:xfrm>
          <a:prstGeom prst="rect">
            <a:avLst/>
          </a:prstGeom>
        </p:spPr>
      </p:pic>
      <p:pic>
        <p:nvPicPr>
          <p:cNvPr id="30" name="그림 29" descr="predicted.PNG"/>
          <p:cNvPicPr>
            <a:picLocks noChangeAspect="1"/>
          </p:cNvPicPr>
          <p:nvPr/>
        </p:nvPicPr>
        <p:blipFill>
          <a:blip r:embed="rId10"/>
          <a:srcRect t="13793"/>
          <a:stretch>
            <a:fillRect/>
          </a:stretch>
        </p:blipFill>
        <p:spPr>
          <a:xfrm>
            <a:off x="14859000" y="20635399"/>
            <a:ext cx="6934200" cy="253785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9600" y="4362271"/>
            <a:ext cx="1325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>
                <a:latin typeface="Arial" pitchFamily="34" charset="0"/>
                <a:cs typeface="Arial" pitchFamily="34" charset="0"/>
              </a:rPr>
              <a:t>Nematode C. </a:t>
            </a:r>
            <a:r>
              <a:rPr lang="en-US" sz="3600" i="1" dirty="0" err="1">
                <a:latin typeface="Arial" pitchFamily="34" charset="0"/>
                <a:cs typeface="Arial" pitchFamily="34" charset="0"/>
              </a:rPr>
              <a:t>elegans</a:t>
            </a:r>
            <a:r>
              <a:rPr lang="en-US" sz="3600" i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is a popular model organism for </a:t>
            </a:r>
            <a:r>
              <a:rPr lang="en-US" sz="3600" b="1" dirty="0">
                <a:latin typeface="Arial" pitchFamily="34" charset="0"/>
                <a:cs typeface="Arial" pitchFamily="34" charset="0"/>
              </a:rPr>
              <a:t>neurobiological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 and </a:t>
            </a:r>
            <a:r>
              <a:rPr lang="en-US" sz="3600" b="1" dirty="0">
                <a:latin typeface="Arial" pitchFamily="34" charset="0"/>
                <a:cs typeface="Arial" pitchFamily="34" charset="0"/>
              </a:rPr>
              <a:t>behavioral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 aspects.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2515671"/>
            <a:ext cx="132588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itchFamily="34" charset="0"/>
                <a:cs typeface="Arial" pitchFamily="34" charset="0"/>
              </a:rPr>
              <a:t>We collect behavioral data </a:t>
            </a:r>
            <a:r>
              <a:rPr lang="en-US" sz="3600" i="1" dirty="0">
                <a:latin typeface="Arial" pitchFamily="34" charset="0"/>
                <a:cs typeface="Arial" pitchFamily="34" charset="0"/>
              </a:rPr>
              <a:t>of C. </a:t>
            </a:r>
            <a:r>
              <a:rPr lang="en-US" sz="3600" i="1" dirty="0" err="1">
                <a:latin typeface="Arial" pitchFamily="34" charset="0"/>
                <a:cs typeface="Arial" pitchFamily="34" charset="0"/>
              </a:rPr>
              <a:t>elegans</a:t>
            </a:r>
            <a:r>
              <a:rPr lang="en-US" sz="3600" i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compiled by</a:t>
            </a:r>
            <a:r>
              <a:rPr lang="en-US" sz="3600" i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automatic imaging</a:t>
            </a:r>
            <a:r>
              <a:rPr lang="en-US" sz="3600" b="1" i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techniques</a:t>
            </a:r>
            <a:r>
              <a:rPr lang="en-US" sz="3600" b="1" i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during experiments which constitute various </a:t>
            </a:r>
            <a:r>
              <a:rPr lang="en-US" sz="3600" b="1" dirty="0">
                <a:latin typeface="Arial" pitchFamily="34" charset="0"/>
                <a:cs typeface="Arial" pitchFamily="34" charset="0"/>
              </a:rPr>
              <a:t>posture features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. </a:t>
            </a:r>
          </a:p>
          <a:p>
            <a:endParaRPr lang="en-US" sz="3600" dirty="0">
              <a:latin typeface="Arial" pitchFamily="34" charset="0"/>
              <a:cs typeface="Arial" pitchFamily="34" charset="0"/>
            </a:endParaRPr>
          </a:p>
          <a:p>
            <a:r>
              <a:rPr lang="en-US" sz="3600" dirty="0">
                <a:latin typeface="Arial" pitchFamily="34" charset="0"/>
                <a:cs typeface="Arial" pitchFamily="34" charset="0"/>
              </a:rPr>
              <a:t>We construct and train ANN model to take </a:t>
            </a:r>
            <a:r>
              <a:rPr lang="en-US" sz="3600" b="1" dirty="0">
                <a:latin typeface="Arial" pitchFamily="34" charset="0"/>
                <a:cs typeface="Arial" pitchFamily="34" charset="0"/>
              </a:rPr>
              <a:t>posture features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 as inputs and outputs </a:t>
            </a:r>
            <a:r>
              <a:rPr lang="en-US" sz="3600" b="1" dirty="0">
                <a:latin typeface="Arial" pitchFamily="34" charset="0"/>
                <a:cs typeface="Arial" pitchFamily="34" charset="0"/>
              </a:rPr>
              <a:t>behavioral types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 (e.g. forward, backward, pause).</a:t>
            </a:r>
          </a:p>
          <a:p>
            <a:endParaRPr lang="en-US" sz="3600" dirty="0">
              <a:latin typeface="Arial" pitchFamily="34" charset="0"/>
              <a:cs typeface="Arial" pitchFamily="34" charset="0"/>
            </a:endParaRPr>
          </a:p>
          <a:p>
            <a:r>
              <a:rPr lang="en-US" sz="3600" dirty="0">
                <a:latin typeface="Arial" pitchFamily="34" charset="0"/>
                <a:cs typeface="Arial" pitchFamily="34" charset="0"/>
              </a:rPr>
              <a:t>Through this study, we aim to show </a:t>
            </a:r>
            <a:r>
              <a:rPr lang="en-US" sz="3600" b="1" dirty="0">
                <a:latin typeface="Arial" pitchFamily="34" charset="0"/>
                <a:cs typeface="Arial" pitchFamily="34" charset="0"/>
              </a:rPr>
              <a:t>how predictive posture features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 are for classifying behavior types, with possible application in experiments to assist in </a:t>
            </a:r>
            <a:r>
              <a:rPr lang="en-US" sz="3600" b="1" dirty="0">
                <a:latin typeface="Arial" pitchFamily="34" charset="0"/>
                <a:cs typeface="Arial" pitchFamily="34" charset="0"/>
              </a:rPr>
              <a:t>auto-labeling of behaviors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33" name="Rectangle 36"/>
          <p:cNvSpPr>
            <a:spLocks noChangeArrowheads="1"/>
          </p:cNvSpPr>
          <p:nvPr/>
        </p:nvSpPr>
        <p:spPr bwMode="auto">
          <a:xfrm>
            <a:off x="304801" y="26993671"/>
            <a:ext cx="13868399" cy="923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0" tIns="45706" rIns="91410" bIns="45706">
            <a:spAutoFit/>
          </a:bodyPr>
          <a:lstStyle/>
          <a:p>
            <a:r>
              <a:rPr lang="en-US" sz="5400" b="1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Data Preprocessing and Feature Extraction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AA00DA-515F-644E-A7BF-5E8094994F99}"/>
              </a:ext>
            </a:extLst>
          </p:cNvPr>
          <p:cNvSpPr/>
          <p:nvPr/>
        </p:nvSpPr>
        <p:spPr>
          <a:xfrm>
            <a:off x="914400" y="25986432"/>
            <a:ext cx="3124200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Bend Count</a:t>
            </a:r>
          </a:p>
          <a:p>
            <a:br>
              <a:rPr lang="en-US" sz="6600" b="1" dirty="0">
                <a:latin typeface="Arial" pitchFamily="34" charset="0"/>
                <a:cs typeface="Arial" pitchFamily="34" charset="0"/>
              </a:rPr>
            </a:br>
            <a:br>
              <a:rPr lang="en-US" sz="6600" b="1" dirty="0">
                <a:latin typeface="Arial" pitchFamily="34" charset="0"/>
                <a:cs typeface="Arial" pitchFamily="34" charset="0"/>
              </a:rPr>
            </a:br>
            <a:endParaRPr lang="en-US" sz="6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CEC0E2-9660-2C42-B28A-8529EE1D73F5}"/>
              </a:ext>
            </a:extLst>
          </p:cNvPr>
          <p:cNvSpPr/>
          <p:nvPr/>
        </p:nvSpPr>
        <p:spPr>
          <a:xfrm>
            <a:off x="4114800" y="25978514"/>
            <a:ext cx="3352800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Midbody Speed</a:t>
            </a:r>
          </a:p>
          <a:p>
            <a:br>
              <a:rPr lang="en-US" sz="6600" b="1" dirty="0">
                <a:latin typeface="Arial" pitchFamily="34" charset="0"/>
                <a:cs typeface="Arial" pitchFamily="34" charset="0"/>
              </a:rPr>
            </a:br>
            <a:br>
              <a:rPr lang="en-US" sz="6600" b="1" dirty="0">
                <a:latin typeface="Arial" pitchFamily="34" charset="0"/>
                <a:cs typeface="Arial" pitchFamily="34" charset="0"/>
              </a:rPr>
            </a:br>
            <a:endParaRPr lang="en-US" sz="6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4A2AB4E-7321-1C4E-85AA-2EC87B217FDC}"/>
              </a:ext>
            </a:extLst>
          </p:cNvPr>
          <p:cNvSpPr/>
          <p:nvPr/>
        </p:nvSpPr>
        <p:spPr>
          <a:xfrm>
            <a:off x="7543800" y="25975240"/>
            <a:ext cx="3962400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Eigenprojection 1</a:t>
            </a:r>
          </a:p>
          <a:p>
            <a:br>
              <a:rPr lang="en-US" sz="6600" b="1" dirty="0">
                <a:latin typeface="Arial" pitchFamily="34" charset="0"/>
                <a:cs typeface="Arial" pitchFamily="34" charset="0"/>
              </a:rPr>
            </a:br>
            <a:br>
              <a:rPr lang="en-US" sz="6600" b="1" dirty="0">
                <a:latin typeface="Arial" pitchFamily="34" charset="0"/>
                <a:cs typeface="Arial" pitchFamily="34" charset="0"/>
              </a:rPr>
            </a:br>
            <a:endParaRPr lang="en-US" sz="6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2276CCC-F4F7-9046-9988-1D2E6331D2D2}"/>
              </a:ext>
            </a:extLst>
          </p:cNvPr>
          <p:cNvSpPr/>
          <p:nvPr/>
        </p:nvSpPr>
        <p:spPr>
          <a:xfrm>
            <a:off x="11224113" y="25978514"/>
            <a:ext cx="3711087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Eigenprojection 2</a:t>
            </a:r>
          </a:p>
          <a:p>
            <a:br>
              <a:rPr lang="en-US" sz="6600" b="1" dirty="0">
                <a:latin typeface="Arial" pitchFamily="34" charset="0"/>
                <a:cs typeface="Arial" pitchFamily="34" charset="0"/>
              </a:rPr>
            </a:br>
            <a:br>
              <a:rPr lang="en-US" sz="6600" b="1" dirty="0">
                <a:latin typeface="Arial" pitchFamily="34" charset="0"/>
                <a:cs typeface="Arial" pitchFamily="34" charset="0"/>
              </a:rPr>
            </a:br>
            <a:endParaRPr lang="en-US" sz="66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3" name="그림 32" descr="groundtruth_ex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230600" y="25069171"/>
            <a:ext cx="10555174" cy="3258005"/>
          </a:xfrm>
          <a:prstGeom prst="rect">
            <a:avLst/>
          </a:prstGeom>
        </p:spPr>
      </p:pic>
      <p:pic>
        <p:nvPicPr>
          <p:cNvPr id="34" name="그림 33" descr="predicted_ex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306800" y="28669442"/>
            <a:ext cx="10498016" cy="3219900"/>
          </a:xfrm>
          <a:prstGeom prst="rect">
            <a:avLst/>
          </a:prstGeom>
        </p:spPr>
      </p:pic>
      <p:sp>
        <p:nvSpPr>
          <p:cNvPr id="35" name="직사각형 34"/>
          <p:cNvSpPr/>
          <p:nvPr/>
        </p:nvSpPr>
        <p:spPr>
          <a:xfrm>
            <a:off x="1219200" y="29146142"/>
            <a:ext cx="914400" cy="20574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Arial" pitchFamily="34" charset="0"/>
                <a:cs typeface="Arial" pitchFamily="34" charset="0"/>
              </a:rPr>
              <a:t>EXP_1</a:t>
            </a:r>
          </a:p>
        </p:txBody>
      </p:sp>
      <p:sp>
        <p:nvSpPr>
          <p:cNvPr id="36" name="왼쪽 중괄호 35"/>
          <p:cNvSpPr/>
          <p:nvPr/>
        </p:nvSpPr>
        <p:spPr>
          <a:xfrm>
            <a:off x="838200" y="29146142"/>
            <a:ext cx="228600" cy="2057400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직사각형 38"/>
          <p:cNvSpPr/>
          <p:nvPr/>
        </p:nvSpPr>
        <p:spPr>
          <a:xfrm>
            <a:off x="2362200" y="29146142"/>
            <a:ext cx="914400" cy="16764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Arial" pitchFamily="34" charset="0"/>
                <a:cs typeface="Arial" pitchFamily="34" charset="0"/>
              </a:rPr>
              <a:t>EXP_2</a:t>
            </a:r>
            <a:endParaRPr lang="en-US" sz="1800" b="1" dirty="0"/>
          </a:p>
        </p:txBody>
      </p:sp>
      <p:sp>
        <p:nvSpPr>
          <p:cNvPr id="40" name="직사각형 39"/>
          <p:cNvSpPr/>
          <p:nvPr/>
        </p:nvSpPr>
        <p:spPr>
          <a:xfrm>
            <a:off x="4114800" y="29146142"/>
            <a:ext cx="914400" cy="24384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 err="1">
                <a:latin typeface="Arial" pitchFamily="34" charset="0"/>
                <a:cs typeface="Arial" pitchFamily="34" charset="0"/>
              </a:rPr>
              <a:t>EXP_n</a:t>
            </a:r>
            <a:endParaRPr lang="en-US" sz="1800" b="1" dirty="0"/>
          </a:p>
        </p:txBody>
      </p:sp>
      <p:sp>
        <p:nvSpPr>
          <p:cNvPr id="41" name="TextBox 40"/>
          <p:cNvSpPr txBox="1"/>
          <p:nvPr/>
        </p:nvSpPr>
        <p:spPr>
          <a:xfrm rot="16200000">
            <a:off x="0" y="29908142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600" y="28231742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features</a:t>
            </a:r>
          </a:p>
        </p:txBody>
      </p:sp>
      <p:sp>
        <p:nvSpPr>
          <p:cNvPr id="43" name="왼쪽 중괄호 42"/>
          <p:cNvSpPr/>
          <p:nvPr/>
        </p:nvSpPr>
        <p:spPr>
          <a:xfrm rot="5400000">
            <a:off x="1562100" y="28422242"/>
            <a:ext cx="228600" cy="914400"/>
          </a:xfrm>
          <a:prstGeom prst="leftBrace">
            <a:avLst>
              <a:gd name="adj1" fmla="val 8333"/>
              <a:gd name="adj2" fmla="val 4882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3505200" y="29831942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…</a:t>
            </a:r>
          </a:p>
        </p:txBody>
      </p:sp>
      <p:sp>
        <p:nvSpPr>
          <p:cNvPr id="45" name="오른쪽 화살표 44"/>
          <p:cNvSpPr/>
          <p:nvPr/>
        </p:nvSpPr>
        <p:spPr>
          <a:xfrm>
            <a:off x="5486400" y="30289142"/>
            <a:ext cx="762000" cy="3048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직사각형 45"/>
          <p:cNvSpPr/>
          <p:nvPr/>
        </p:nvSpPr>
        <p:spPr>
          <a:xfrm>
            <a:off x="7848600" y="28670071"/>
            <a:ext cx="914400" cy="32004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itchFamily="34" charset="0"/>
                <a:cs typeface="Arial" pitchFamily="34" charset="0"/>
              </a:rPr>
              <a:t>EXP_1 to</a:t>
            </a:r>
          </a:p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EXP_n</a:t>
            </a:r>
            <a:endParaRPr lang="en-US" sz="1400" b="1" dirty="0"/>
          </a:p>
        </p:txBody>
      </p:sp>
      <p:sp>
        <p:nvSpPr>
          <p:cNvPr id="47" name="왼쪽 중괄호 46"/>
          <p:cNvSpPr/>
          <p:nvPr/>
        </p:nvSpPr>
        <p:spPr>
          <a:xfrm>
            <a:off x="7467600" y="28670071"/>
            <a:ext cx="228600" cy="3200400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 rot="16200000">
            <a:off x="6282899" y="29930972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itchFamily="34" charset="0"/>
                <a:cs typeface="Arial" pitchFamily="34" charset="0"/>
              </a:rPr>
              <a:t>Stacked time</a:t>
            </a:r>
          </a:p>
        </p:txBody>
      </p:sp>
      <p:sp>
        <p:nvSpPr>
          <p:cNvPr id="49" name="왼쪽 중괄호 48"/>
          <p:cNvSpPr/>
          <p:nvPr/>
        </p:nvSpPr>
        <p:spPr>
          <a:xfrm rot="5400000">
            <a:off x="8191500" y="28022371"/>
            <a:ext cx="228600" cy="914400"/>
          </a:xfrm>
          <a:prstGeom prst="leftBrace">
            <a:avLst>
              <a:gd name="adj1" fmla="val 8333"/>
              <a:gd name="adj2" fmla="val 4882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7620000" y="27831871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features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8991600" y="28670071"/>
            <a:ext cx="304800" cy="32004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1400" b="1" dirty="0">
                <a:latin typeface="Arial" pitchFamily="34" charset="0"/>
                <a:cs typeface="Arial" pitchFamily="34" charset="0"/>
              </a:rPr>
              <a:t>LABELS</a:t>
            </a:r>
          </a:p>
        </p:txBody>
      </p:sp>
      <p:sp>
        <p:nvSpPr>
          <p:cNvPr id="52" name="오른쪽 화살표 51"/>
          <p:cNvSpPr/>
          <p:nvPr/>
        </p:nvSpPr>
        <p:spPr>
          <a:xfrm>
            <a:off x="9677400" y="30194071"/>
            <a:ext cx="762000" cy="3048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직사각형 52"/>
          <p:cNvSpPr/>
          <p:nvPr/>
        </p:nvSpPr>
        <p:spPr>
          <a:xfrm>
            <a:off x="12039600" y="28670071"/>
            <a:ext cx="914400" cy="25146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itchFamily="34" charset="0"/>
                <a:cs typeface="Arial" pitchFamily="34" charset="0"/>
              </a:rPr>
              <a:t>EXP_1 to</a:t>
            </a:r>
          </a:p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EXP_n</a:t>
            </a:r>
            <a:endParaRPr lang="en-US" sz="1400" b="1" dirty="0"/>
          </a:p>
        </p:txBody>
      </p:sp>
      <p:sp>
        <p:nvSpPr>
          <p:cNvPr id="54" name="왼쪽 중괄호 53"/>
          <p:cNvSpPr/>
          <p:nvPr/>
        </p:nvSpPr>
        <p:spPr>
          <a:xfrm>
            <a:off x="11658600" y="28670071"/>
            <a:ext cx="228600" cy="2514600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 rot="16200000">
            <a:off x="10473899" y="29473772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itchFamily="34" charset="0"/>
                <a:cs typeface="Arial" pitchFamily="34" charset="0"/>
              </a:rPr>
              <a:t>Stacked time</a:t>
            </a:r>
          </a:p>
        </p:txBody>
      </p:sp>
      <p:sp>
        <p:nvSpPr>
          <p:cNvPr id="56" name="왼쪽 중괄호 55"/>
          <p:cNvSpPr/>
          <p:nvPr/>
        </p:nvSpPr>
        <p:spPr>
          <a:xfrm rot="5400000">
            <a:off x="12382500" y="28022371"/>
            <a:ext cx="228600" cy="914400"/>
          </a:xfrm>
          <a:prstGeom prst="leftBrace">
            <a:avLst>
              <a:gd name="adj1" fmla="val 8333"/>
              <a:gd name="adj2" fmla="val 4882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11811000" y="27831871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features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13182600" y="28670071"/>
            <a:ext cx="304800" cy="25146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1400" b="1" dirty="0">
                <a:latin typeface="Arial" pitchFamily="34" charset="0"/>
                <a:cs typeface="Arial" pitchFamily="34" charset="0"/>
              </a:rPr>
              <a:t>LABELS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31660742"/>
            <a:ext cx="480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Convert original data format (</a:t>
            </a:r>
            <a:r>
              <a:rPr lang="en-US" sz="2400" b="1" dirty="0" err="1">
                <a:latin typeface="Arial" pitchFamily="34" charset="0"/>
                <a:cs typeface="Arial" pitchFamily="34" charset="0"/>
              </a:rPr>
              <a:t>hdf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) into </a:t>
            </a:r>
            <a:r>
              <a:rPr lang="en-US" sz="2400" b="1" dirty="0" err="1">
                <a:latin typeface="Arial" pitchFamily="34" charset="0"/>
                <a:cs typeface="Arial" pitchFamily="34" charset="0"/>
              </a:rPr>
              <a:t>Numpy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 objects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38800" y="32022871"/>
            <a:ext cx="4343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Stack multiple experiments data into single matrix.</a:t>
            </a:r>
          </a:p>
          <a:p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Extract labels from features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87000" y="31372076"/>
            <a:ext cx="4191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Discard time indices with </a:t>
            </a:r>
            <a:r>
              <a:rPr lang="en-US" sz="2400" b="1" dirty="0" err="1">
                <a:latin typeface="Arial" pitchFamily="34" charset="0"/>
                <a:cs typeface="Arial" pitchFamily="34" charset="0"/>
              </a:rPr>
              <a:t>NaN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 entries for both labels and feature time series. </a:t>
            </a:r>
          </a:p>
          <a:p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Scale and partition the data with appropriate window size.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1000" y="20440471"/>
            <a:ext cx="13258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use data from </a:t>
            </a:r>
            <a:r>
              <a:rPr lang="en-US" sz="36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OpenWorm</a:t>
            </a:r>
            <a:r>
              <a:rPr lang="en-US" sz="3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behavioral database</a:t>
            </a: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13,339</a:t>
            </a: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experiments with time series of features.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Each  experiment consists of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~25,000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video frames (~1000s) and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44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posture features. .</a:t>
            </a:r>
            <a:endParaRPr lang="en-US" sz="3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dirty="0">
              <a:latin typeface="Arial" pitchFamily="34" charset="0"/>
              <a:cs typeface="Arial" pitchFamily="34" charset="0"/>
            </a:endParaRPr>
          </a:p>
          <a:p>
            <a:r>
              <a:rPr lang="en-US" sz="36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35200" y="4286071"/>
            <a:ext cx="13258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We use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many to many LSTM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to take time sequence of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posture features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as inputs and outputs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behavioral types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(Forward, Backward, Pause)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angle 36"/>
          <p:cNvSpPr>
            <a:spLocks noChangeArrowheads="1"/>
          </p:cNvSpPr>
          <p:nvPr/>
        </p:nvSpPr>
        <p:spPr bwMode="auto">
          <a:xfrm>
            <a:off x="14935200" y="14725471"/>
            <a:ext cx="13639800" cy="2616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0" tIns="45706" rIns="91410" bIns="45706">
            <a:spAutoFit/>
          </a:bodyPr>
          <a:lstStyle/>
          <a:p>
            <a:r>
              <a:rPr lang="en-US" sz="4400" b="1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Prediction on Testing Sample </a:t>
            </a:r>
          </a:p>
          <a:p>
            <a:r>
              <a:rPr lang="en-US" sz="4000" b="1" dirty="0">
                <a:latin typeface="Calibri"/>
                <a:cs typeface="Calibri"/>
              </a:rPr>
              <a:t>(150 Experiment sets, </a:t>
            </a:r>
            <a:r>
              <a:rPr lang="en-US" sz="4000" b="1" dirty="0" err="1">
                <a:latin typeface="Calibri"/>
                <a:cs typeface="Calibri"/>
              </a:rPr>
              <a:t>Lr</a:t>
            </a:r>
            <a:r>
              <a:rPr lang="en-US" sz="4000" b="1" dirty="0">
                <a:latin typeface="Calibri"/>
                <a:cs typeface="Calibri"/>
              </a:rPr>
              <a:t> = 0.0001, 20 Epochs)</a:t>
            </a:r>
          </a:p>
          <a:p>
            <a:r>
              <a:rPr lang="en-US" sz="4000" b="1" dirty="0">
                <a:latin typeface="Calibri"/>
                <a:cs typeface="Calibri"/>
              </a:rPr>
              <a:t>(9 Features used: </a:t>
            </a:r>
            <a:r>
              <a:rPr lang="en-US" sz="4000" b="1" dirty="0" err="1">
                <a:latin typeface="Calibri"/>
                <a:cs typeface="Calibri"/>
              </a:rPr>
              <a:t>Eigenprojection</a:t>
            </a:r>
            <a:r>
              <a:rPr lang="en-US" sz="4000" b="1" dirty="0">
                <a:latin typeface="Calibri"/>
                <a:cs typeface="Calibri"/>
              </a:rPr>
              <a:t> 1 – 6, head, mid-body, tail absolute speed) </a:t>
            </a:r>
          </a:p>
        </p:txBody>
      </p:sp>
      <p:sp>
        <p:nvSpPr>
          <p:cNvPr id="66" name="Rectangle 36"/>
          <p:cNvSpPr>
            <a:spLocks noChangeArrowheads="1"/>
          </p:cNvSpPr>
          <p:nvPr/>
        </p:nvSpPr>
        <p:spPr bwMode="auto">
          <a:xfrm>
            <a:off x="14935200" y="23945671"/>
            <a:ext cx="11201400" cy="76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0" tIns="45706" rIns="91410" bIns="45706">
            <a:spAutoFit/>
          </a:bodyPr>
          <a:lstStyle/>
          <a:p>
            <a:r>
              <a:rPr lang="en-US" sz="4400" b="1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Prediction on Random Experiment Sets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916400" y="17635479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Ground Truth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297400" y="20213203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Predicted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011400" y="22827258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0s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107400" y="22817078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400s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564600" y="18092678"/>
            <a:ext cx="1066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FWD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564600" y="18702278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PAUSE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564600" y="19540478"/>
            <a:ext cx="1066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BWD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564600" y="20835878"/>
            <a:ext cx="1066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FWD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564600" y="21445478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PAUSE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564600" y="22283678"/>
            <a:ext cx="1066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BWD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4917400" y="17864078"/>
            <a:ext cx="289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Loss Curve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374600" y="22979658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Epochs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345400" y="24783871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Ground Truth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726400" y="28231742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Predicted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935200" y="12287071"/>
            <a:ext cx="13258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For the results below we use data window size of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50 (2s)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, batch size of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and hidden layer size of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512 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6687800" y="23031271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99.1% accuracy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6459200" y="31670922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0s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5831800" y="31660742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300s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592800" y="31823560"/>
            <a:ext cx="662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80 - 90% accuracy for each experiment (~1000s)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6517600" y="25241071"/>
            <a:ext cx="1066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FWD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6517600" y="26470451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PAUSE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6517600" y="27679471"/>
            <a:ext cx="1066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BWD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6517600" y="28765142"/>
            <a:ext cx="1066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FWD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6517600" y="29994522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PAUSE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6517600" y="31203542"/>
            <a:ext cx="1066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BWD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5316200" y="25994170"/>
            <a:ext cx="1143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Arial" pitchFamily="34" charset="0"/>
                <a:cs typeface="Arial" pitchFamily="34" charset="0"/>
              </a:rPr>
              <a:t>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5316200" y="29442041"/>
            <a:ext cx="1143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Arial" pitchFamily="34" charset="0"/>
                <a:cs typeface="Arial" pitchFamily="34" charset="0"/>
              </a:rPr>
              <a:t>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5000" dirty="0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9854</TotalTime>
  <Words>455</Words>
  <Application>Microsoft Office PowerPoint</Application>
  <PresentationFormat>Custom</PresentationFormat>
  <Paragraphs>83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Arquitectura</vt:lpstr>
      <vt:lpstr>Tiepolo Black</vt:lpstr>
      <vt:lpstr>Arial</vt:lpstr>
      <vt:lpstr>Calibri</vt:lpstr>
      <vt:lpstr>Times New Roman</vt:lpstr>
      <vt:lpstr>Default Design</vt:lpstr>
      <vt:lpstr>PowerPoint Presentation</vt:lpstr>
    </vt:vector>
  </TitlesOfParts>
  <Company>cse dept. university of washington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dougz</dc:creator>
  <cp:lastModifiedBy>Jimin Kim</cp:lastModifiedBy>
  <cp:revision>194</cp:revision>
  <dcterms:created xsi:type="dcterms:W3CDTF">2014-11-15T03:35:33Z</dcterms:created>
  <dcterms:modified xsi:type="dcterms:W3CDTF">2022-06-01T03:52:46Z</dcterms:modified>
</cp:coreProperties>
</file>